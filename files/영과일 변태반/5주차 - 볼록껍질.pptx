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7" r:id="rId5"/>
    <p:sldId id="266" r:id="rId6"/>
    <p:sldId id="267" r:id="rId7"/>
    <p:sldId id="261" r:id="rId8"/>
    <p:sldId id="264" r:id="rId9"/>
    <p:sldId id="258" r:id="rId10"/>
    <p:sldId id="260" r:id="rId11"/>
    <p:sldId id="259" r:id="rId12"/>
    <p:sldId id="268" r:id="rId13"/>
    <p:sldId id="26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D42E-7E91-D885-0F93-8C6318E88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3071F0-37DD-4BAA-064D-22BC0FD00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68984-B7D6-03E2-2A68-A466BCF5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EA5727-AF56-B505-637E-F05DDB4B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A1E9C9-9832-705F-BB34-803F592D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93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F6B20-345B-B285-103A-9531D0A1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CC27E2-BF42-2AEB-2BED-462938741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A3F193-FAF4-746C-D951-F2D87702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D70416-9B5B-97E6-6D7B-1BFE0404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98C2C-3BC3-1C57-FBCB-48004F0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10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9620E-2A52-4F59-AFB4-0B1E33A1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90E829-B3FA-5F1C-B62C-FAC581259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DACDF5-C84C-53A7-1822-9F97B91D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E3D65-1D1C-8C10-4FB9-A717B0AF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D78CDD-B334-83C4-3319-1FB18698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42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6CA3B-1E93-46CD-67F3-B8FD591F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E8707-64B8-8A8D-F663-ED7662EBD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FE6106-E298-B8D5-83D5-AC725634F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8575CF-9E46-A6D2-DB68-CE2785C0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A4F4B0-C230-8AF5-B97A-DDA8403A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3CC624-72B8-DACE-A982-ED882553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44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4DCEE-6CDB-E609-8324-1865AD49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EF51B0-1FAB-404C-CE65-4CECEA900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36ECBF-7491-4622-2FD6-DC6347281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ABD82-8A05-7613-AFE6-59200542A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4A67AE-D4C0-6155-9AC7-D9CA8FB3F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49B34B-8C48-3A20-AB59-01B947C3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1C138B-D427-F529-7B41-C0F448AB2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C7D3E7-3BAD-F6C7-A932-74CE731F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6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12C01-2E71-B864-2D97-5B5611F1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93B6-7989-2813-1E75-D45ACC32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720523-2D1D-E8F7-FA4A-CE4EB3C3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F561D5-DFFA-3E53-0866-783C8379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03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BD89F5-7167-3591-7A0F-9D4142B3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A8C221-9189-C726-A784-9733470B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E2F4C2-BAA9-5840-FA8A-3D634B3F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61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60872-0CA7-15AF-8077-639CFAA6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93354F-2990-814F-C3CC-69C70D31A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CA1B73-1217-45E5-28D1-5A7C4F5B1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3704C-7148-6622-50D3-744828DC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F6E20F-E42E-9970-A3F0-14F2097E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19F3F1-4267-983E-0258-D5B466F8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42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0CAFD-1311-5BA3-2490-C220185A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81EED7-DC81-6972-E47C-C12C208E0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860ACE-68D4-E3E6-2FBE-DE6A62770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D02E2-5C37-A22D-2F4E-75890395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339BC3-4028-E01F-8D86-42753E6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B40374-A821-2A9F-B7D9-7FB17956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1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9A9E6-4932-18F5-50A8-A1018370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C58AD9-3F58-FA58-8FED-002B70B6D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2123D-B937-72F8-2B44-6CFD815F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86746-97A4-24E6-E82E-DC1D4F8D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E1A8D-E0BB-A537-7A82-14C8D51E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154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51CE47-8921-8F2A-BF72-136B8A5EF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27183C-9690-63CE-7DBF-EA3B42F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F6414-D9E8-F61C-C606-5E0ECB99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5E9A6-1B66-72C0-E561-1BE4A8F0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37CCF-D667-9D40-7200-9F52FD40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91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109955-7F07-0BAB-3296-D2564D1C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A64A3C-E057-9938-85F3-A87379E6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817A1-3CAF-A810-7E6B-266CB84BF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0C418-7A2C-4163-8A53-FC4894FAC32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41AA3-4577-1C15-2B1D-8AA2DD920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05883-B460-E8CD-5AAE-D1C0293E9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7C2C5-EC73-4579-A76E-AB81EBCFB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4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A80B6-04E7-70F9-7B1C-AAF6CD9FA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Convex Hull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CE12E2-FD79-DFB5-5AD2-F2F4ED2BA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 </a:t>
            </a:r>
            <a:r>
              <a:rPr lang="ko-KR" altLang="en-US" dirty="0"/>
              <a:t>스터디 </a:t>
            </a:r>
            <a:r>
              <a:rPr lang="en-US" altLang="ko-KR" dirty="0"/>
              <a:t>5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97789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3F36E-EE40-B995-EEB2-6FA72D6D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7AE9EB-0911-D8DF-1187-6569BF02F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지난 </a:t>
            </a:r>
            <a:r>
              <a:rPr lang="en-US" altLang="ko-KR" dirty="0"/>
              <a:t>ZOAC </a:t>
            </a:r>
            <a:r>
              <a:rPr lang="ko-KR" altLang="en-US" dirty="0"/>
              <a:t>참가하신 분들 모두 감사드립니다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그리고 난이도에 대해 </a:t>
            </a:r>
            <a:r>
              <a:rPr lang="ko-KR" altLang="en-US" dirty="0" err="1">
                <a:solidFill>
                  <a:schemeClr val="bg1">
                    <a:lumMod val="85000"/>
                  </a:schemeClr>
                </a:solidFill>
              </a:rPr>
              <a:t>사과드립니다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B5A067-7C5A-E564-CD47-5D653EDC2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67"/>
          <a:stretch>
            <a:fillRect/>
          </a:stretch>
        </p:blipFill>
        <p:spPr>
          <a:xfrm>
            <a:off x="7103748" y="4094223"/>
            <a:ext cx="3460764" cy="20961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A0624F-8903-76A8-8E05-2FBBC83A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496"/>
          <a:stretch>
            <a:fillRect/>
          </a:stretch>
        </p:blipFill>
        <p:spPr>
          <a:xfrm>
            <a:off x="1238000" y="4106473"/>
            <a:ext cx="4858000" cy="19208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327AB1-D263-E7CB-657A-EB898EE8DBA0}"/>
              </a:ext>
            </a:extLst>
          </p:cNvPr>
          <p:cNvSpPr txBox="1"/>
          <p:nvPr/>
        </p:nvSpPr>
        <p:spPr>
          <a:xfrm>
            <a:off x="2529042" y="3631962"/>
            <a:ext cx="1061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출제진이 상상한 난이도</a:t>
            </a:r>
            <a:r>
              <a:rPr lang="en-US" altLang="ko-KR" dirty="0"/>
              <a:t>                 </a:t>
            </a:r>
            <a:r>
              <a:rPr lang="ko-KR" altLang="en-US" dirty="0"/>
              <a:t>　</a:t>
            </a:r>
            <a:r>
              <a:rPr lang="en-US" altLang="ko-KR" dirty="0"/>
              <a:t>                 </a:t>
            </a:r>
            <a:r>
              <a:rPr lang="ko-KR" altLang="en-US" dirty="0"/>
              <a:t>실제 기여 현황</a:t>
            </a:r>
          </a:p>
        </p:txBody>
      </p:sp>
    </p:spTree>
    <p:extLst>
      <p:ext uri="{BB962C8B-B14F-4D97-AF65-F5344CB8AC3E}">
        <p14:creationId xmlns:p14="http://schemas.microsoft.com/office/powerpoint/2010/main" val="242411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83898-F975-595A-C7E4-FD44D4F3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할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8EBBD-658D-B19B-C7F8-84DC8E469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많은 사람들의 프로필 그래프에서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눈에 띄게 찌그러져 있는 부분인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기하 알고리즘을 배워봅시다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 err="1">
                <a:solidFill>
                  <a:schemeClr val="bg1">
                    <a:lumMod val="85000"/>
                  </a:schemeClr>
                </a:solidFill>
              </a:rPr>
              <a:t>변태반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 이름값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AAC1AA-6F56-DD94-4564-F15A5F8B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808" y="1825625"/>
            <a:ext cx="4216617" cy="4254719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EF9480-6E85-4789-B753-E8B7AA008861}"/>
              </a:ext>
            </a:extLst>
          </p:cNvPr>
          <p:cNvCxnSpPr>
            <a:cxnSpLocks/>
          </p:cNvCxnSpPr>
          <p:nvPr/>
        </p:nvCxnSpPr>
        <p:spPr>
          <a:xfrm>
            <a:off x="7990261" y="2859801"/>
            <a:ext cx="675038" cy="698814"/>
          </a:xfrm>
          <a:prstGeom prst="straightConnector1">
            <a:avLst/>
          </a:prstGeom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0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FD8CA-E50C-47F4-8C75-61198928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CCW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F4DF0-C230-FC9C-D55A-A4F0875E9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altLang="ko-KR" b="1" dirty="0"/>
              <a:t>C</a:t>
            </a:r>
            <a:r>
              <a:rPr lang="en-US" altLang="ko-KR" dirty="0"/>
              <a:t>ounter-</a:t>
            </a:r>
            <a:r>
              <a:rPr lang="en-US" altLang="ko-KR" b="1" dirty="0" err="1"/>
              <a:t>C</a:t>
            </a:r>
            <a:r>
              <a:rPr lang="en-US" altLang="ko-KR" dirty="0" err="1"/>
              <a:t>lock</a:t>
            </a:r>
            <a:r>
              <a:rPr lang="en-US" altLang="ko-KR" b="1" dirty="0" err="1"/>
              <a:t>W</a:t>
            </a:r>
            <a:r>
              <a:rPr lang="en-US" altLang="ko-KR" dirty="0" err="1"/>
              <a:t>ise</a:t>
            </a:r>
            <a:endParaRPr lang="en-US" altLang="ko-KR" dirty="0"/>
          </a:p>
          <a:p>
            <a:r>
              <a:rPr lang="ko-KR" altLang="en-US" dirty="0"/>
              <a:t>세 점이 시계방향인지</a:t>
            </a:r>
            <a:r>
              <a:rPr lang="en-US" altLang="ko-KR" dirty="0"/>
              <a:t>, </a:t>
            </a:r>
            <a:r>
              <a:rPr lang="ko-KR" altLang="en-US" dirty="0"/>
              <a:t>반시계방향인지 판정하는 함수</a:t>
            </a:r>
            <a:r>
              <a:rPr lang="en-US" altLang="ko-KR" dirty="0"/>
              <a:t>.</a:t>
            </a:r>
          </a:p>
          <a:p>
            <a:endParaRPr lang="en-US" altLang="ko-KR" sz="1800" dirty="0"/>
          </a:p>
          <a:p>
            <a:r>
              <a:rPr lang="ko-KR" altLang="en-US" sz="2400" dirty="0"/>
              <a:t>        반시계 </a:t>
            </a:r>
            <a:r>
              <a:rPr lang="en-US" altLang="ko-KR" sz="2400" dirty="0"/>
              <a:t>		         </a:t>
            </a:r>
            <a:r>
              <a:rPr lang="ko-KR" altLang="en-US" sz="2400" dirty="0"/>
              <a:t>일직선 </a:t>
            </a:r>
            <a:r>
              <a:rPr lang="en-US" altLang="ko-KR" sz="2400" dirty="0"/>
              <a:t>			   </a:t>
            </a:r>
            <a:r>
              <a:rPr lang="ko-KR" altLang="en-US" sz="2400" dirty="0"/>
              <a:t>시계</a:t>
            </a:r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50" dirty="0"/>
          </a:p>
          <a:p>
            <a:r>
              <a:rPr lang="ko-KR" altLang="en-US" dirty="0"/>
              <a:t>반시계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+   </a:t>
            </a:r>
            <a:r>
              <a:rPr lang="ko-KR" altLang="en-US" dirty="0"/>
              <a:t>시계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-   </a:t>
            </a:r>
            <a:r>
              <a:rPr lang="ko-KR" altLang="en-US" dirty="0"/>
              <a:t>일직선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을 반환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AB23BB-0B7C-635C-630E-2CF2B3DC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0" t="6410" r="4117" b="12878"/>
          <a:stretch>
            <a:fillRect/>
          </a:stretch>
        </p:blipFill>
        <p:spPr>
          <a:xfrm>
            <a:off x="1138732" y="3697217"/>
            <a:ext cx="2952840" cy="17399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98EC58-96C3-79BC-1C19-56932B9CB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710" y="3621013"/>
            <a:ext cx="3149762" cy="18161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397834-9C91-F26C-AA02-1A421FE1F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886" y="3659114"/>
            <a:ext cx="3124361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8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AD62-5793-C745-D1C0-3E343099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CCW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E16FD-FD3B-22CA-3656-BCBFEE11F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CCW</a:t>
            </a:r>
            <a:r>
              <a:rPr lang="ko-KR" altLang="en-US" sz="2400" dirty="0"/>
              <a:t>의 정체는 사실 벡터의 외적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외적 </a:t>
            </a:r>
            <a:r>
              <a:rPr lang="en-US" altLang="ko-KR" sz="2400" dirty="0"/>
              <a:t>: </a:t>
            </a:r>
            <a:r>
              <a:rPr lang="ko-KR" altLang="en-US" sz="2400" dirty="0"/>
              <a:t>두 벡터에 수직인 벡터를 구함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a b</a:t>
            </a:r>
            <a:r>
              <a:rPr lang="ko-KR" altLang="en-US" sz="2400" dirty="0"/>
              <a:t>가 반시계면 위로</a:t>
            </a:r>
            <a:r>
              <a:rPr lang="en-US" altLang="ko-KR" sz="2400" dirty="0"/>
              <a:t>, </a:t>
            </a:r>
            <a:r>
              <a:rPr lang="ko-KR" altLang="en-US" sz="2400" dirty="0"/>
              <a:t>시계면 아래로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2</a:t>
            </a:r>
            <a:r>
              <a:rPr lang="ko-KR" altLang="en-US" sz="2400" dirty="0"/>
              <a:t>차원 점들이지만 </a:t>
            </a:r>
            <a:r>
              <a:rPr lang="en-US" altLang="ko-KR" sz="2400" dirty="0"/>
              <a:t>z</a:t>
            </a:r>
            <a:r>
              <a:rPr lang="ko-KR" altLang="en-US" sz="2400" dirty="0"/>
              <a:t>를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두고 외적을 적용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결과에서 </a:t>
            </a:r>
            <a:r>
              <a:rPr lang="en-US" altLang="ko-KR" sz="2400" dirty="0"/>
              <a:t>z</a:t>
            </a:r>
            <a:r>
              <a:rPr lang="ko-KR" altLang="en-US" sz="2400" dirty="0"/>
              <a:t>성분의 부호만 뽑아내면 그게 </a:t>
            </a:r>
            <a:r>
              <a:rPr lang="en-US" altLang="ko-KR" sz="2400" dirty="0"/>
              <a:t>CCW.</a:t>
            </a:r>
          </a:p>
          <a:p>
            <a:r>
              <a:rPr lang="ko-KR" altLang="en-US" sz="2400" dirty="0"/>
              <a:t>다음과 같은 식이 나온다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7A2F0-DAB4-884F-0475-82190B99FF46}"/>
              </a:ext>
            </a:extLst>
          </p:cNvPr>
          <p:cNvSpPr txBox="1"/>
          <p:nvPr/>
        </p:nvSpPr>
        <p:spPr>
          <a:xfrm>
            <a:off x="8997695" y="631190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식 정리 과정</a:t>
            </a:r>
            <a:r>
              <a:rPr lang="en-US" altLang="ko-KR" dirty="0"/>
              <a:t>.</a:t>
            </a:r>
            <a:r>
              <a:rPr lang="en-US" altLang="ko-KR" dirty="0" err="1"/>
              <a:t>png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9CD6A0-9D05-8807-8430-64EE382E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158" y="3720178"/>
            <a:ext cx="3175162" cy="25242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E029BCC-092D-992D-62FF-81BC85137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285" y="627855"/>
            <a:ext cx="3120077" cy="283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485DCD8-7234-E92D-574A-65B493A52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128" y="208531"/>
            <a:ext cx="1589831" cy="368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203E2F-E76A-DF8B-DA2E-37C591C1CA0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040" y="5264120"/>
            <a:ext cx="5040055" cy="9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7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A9FDF-676A-6677-26A9-13BE3A4F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CCW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D623A-A9E4-9CE8-B8B1-D50417B93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5007"/>
          </a:xfrm>
        </p:spPr>
        <p:txBody>
          <a:bodyPr>
            <a:normAutofit/>
          </a:bodyPr>
          <a:lstStyle/>
          <a:p>
            <a:r>
              <a:rPr lang="ko-KR" altLang="en-US" dirty="0"/>
              <a:t>코드 구현 예시 </a:t>
            </a:r>
            <a:r>
              <a:rPr lang="en-US" altLang="ko-KR" dirty="0"/>
              <a:t>(int </a:t>
            </a:r>
            <a:r>
              <a:rPr lang="ko-KR" altLang="en-US" dirty="0" err="1"/>
              <a:t>오버플로우에</a:t>
            </a:r>
            <a:r>
              <a:rPr lang="ko-KR" altLang="en-US" dirty="0"/>
              <a:t> 주의</a:t>
            </a:r>
            <a:r>
              <a:rPr lang="en-US" altLang="ko-KR" dirty="0"/>
              <a:t>, long </a:t>
            </a:r>
            <a:r>
              <a:rPr lang="en-US" altLang="ko-KR" dirty="0" err="1"/>
              <a:t>long</a:t>
            </a:r>
            <a:r>
              <a:rPr lang="en-US" altLang="ko-KR" dirty="0"/>
              <a:t> </a:t>
            </a:r>
            <a:r>
              <a:rPr lang="ko-KR" altLang="en-US" dirty="0"/>
              <a:t>쓰세요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BOJ 11758: CCW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26ACF-1434-4C86-CDA6-DF76EFBE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30" y="2511372"/>
            <a:ext cx="5762720" cy="31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2A399-A1DE-CA48-24CF-B2553C83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선분 교차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2CCAD-D16F-7E8A-FB15-4C3D1EA06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2156"/>
          </a:xfrm>
        </p:spPr>
        <p:txBody>
          <a:bodyPr>
            <a:normAutofit/>
          </a:bodyPr>
          <a:lstStyle/>
          <a:p>
            <a:r>
              <a:rPr lang="ko-KR" altLang="en-US" dirty="0"/>
              <a:t>기본 아이디어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sz="2400" dirty="0"/>
              <a:t>CCW(1,2,3)*CCW(1,2,4) </a:t>
            </a:r>
            <a:r>
              <a:rPr lang="ko-KR" altLang="en-US" sz="2400" dirty="0"/>
              <a:t>≤</a:t>
            </a:r>
            <a:r>
              <a:rPr lang="en-US" altLang="ko-KR" sz="2400" dirty="0"/>
              <a:t> 0      &amp;&amp;       CCW(3,4,1)*CCW(3,4,2) </a:t>
            </a:r>
            <a:r>
              <a:rPr lang="ko-KR" altLang="en-US" sz="2400" dirty="0"/>
              <a:t>≤</a:t>
            </a:r>
            <a:r>
              <a:rPr lang="en-US" altLang="ko-KR" sz="2400" dirty="0"/>
              <a:t> 0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BOJ 17386: </a:t>
            </a:r>
            <a:r>
              <a:rPr lang="ko-KR" altLang="en-US" dirty="0"/>
              <a:t>선분 교차 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EADDE7-9410-C363-6C6C-8C0C55D1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65" y="2482735"/>
            <a:ext cx="3524431" cy="23496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10E577-EF84-B051-C735-BE6155A29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61"/>
          <a:stretch>
            <a:fillRect/>
          </a:stretch>
        </p:blipFill>
        <p:spPr>
          <a:xfrm>
            <a:off x="7168405" y="2482736"/>
            <a:ext cx="3410911" cy="23496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E16660-2FE6-E550-FE86-1025FC21A2C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7727" y="177701"/>
            <a:ext cx="2713338" cy="19208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447F52-B4E1-0DEB-EB95-C70B0C08B28C}"/>
              </a:ext>
            </a:extLst>
          </p:cNvPr>
          <p:cNvSpPr txBox="1"/>
          <p:nvPr/>
        </p:nvSpPr>
        <p:spPr>
          <a:xfrm>
            <a:off x="5604286" y="3352929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&amp;&amp;</a:t>
            </a:r>
            <a:endParaRPr lang="ko-KR" altLang="en-US" sz="28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D782565-7A6B-B02C-8806-FBAE336FFBC5}"/>
              </a:ext>
            </a:extLst>
          </p:cNvPr>
          <p:cNvCxnSpPr>
            <a:cxnSpLocks/>
          </p:cNvCxnSpPr>
          <p:nvPr/>
        </p:nvCxnSpPr>
        <p:spPr>
          <a:xfrm flipH="1" flipV="1">
            <a:off x="3737380" y="2865498"/>
            <a:ext cx="618720" cy="541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ACC8EF6-E23B-1827-0EB6-33033C3CACE3}"/>
              </a:ext>
            </a:extLst>
          </p:cNvPr>
          <p:cNvCxnSpPr/>
          <p:nvPr/>
        </p:nvCxnSpPr>
        <p:spPr>
          <a:xfrm flipH="1">
            <a:off x="3786475" y="3657545"/>
            <a:ext cx="613691" cy="662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0327AE2-C113-59D1-0D36-3A9E245D9772}"/>
              </a:ext>
            </a:extLst>
          </p:cNvPr>
          <p:cNvCxnSpPr/>
          <p:nvPr/>
        </p:nvCxnSpPr>
        <p:spPr>
          <a:xfrm>
            <a:off x="3578225" y="2959100"/>
            <a:ext cx="92075" cy="13144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5D85C0-37F9-E845-F6A0-3566C673E2A0}"/>
              </a:ext>
            </a:extLst>
          </p:cNvPr>
          <p:cNvCxnSpPr/>
          <p:nvPr/>
        </p:nvCxnSpPr>
        <p:spPr>
          <a:xfrm flipV="1">
            <a:off x="7977987" y="3614539"/>
            <a:ext cx="1926990" cy="1535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8F7FD72-4707-F3B5-3A35-6E7AC036B42D}"/>
              </a:ext>
            </a:extLst>
          </p:cNvPr>
          <p:cNvCxnSpPr>
            <a:cxnSpLocks/>
          </p:cNvCxnSpPr>
          <p:nvPr/>
        </p:nvCxnSpPr>
        <p:spPr>
          <a:xfrm flipV="1">
            <a:off x="9536762" y="3768064"/>
            <a:ext cx="463743" cy="613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6374F7E-4C77-2174-D685-784604B92885}"/>
              </a:ext>
            </a:extLst>
          </p:cNvPr>
          <p:cNvCxnSpPr>
            <a:cxnSpLocks/>
          </p:cNvCxnSpPr>
          <p:nvPr/>
        </p:nvCxnSpPr>
        <p:spPr>
          <a:xfrm flipH="1" flipV="1">
            <a:off x="7928891" y="3876149"/>
            <a:ext cx="1264204" cy="549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D1A25A9B-7DCC-F2FB-F49A-ABF402E6A86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8833" y="365125"/>
            <a:ext cx="2616334" cy="16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8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4B9A7-9690-B9AE-6272-27583B33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선분 교차 판정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955EE-1D23-9583-B1DF-BE6364E4B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75176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그리고 이상한 예외 처리</a:t>
            </a:r>
            <a:r>
              <a:rPr lang="en-US" altLang="ko-KR" sz="2400" dirty="0"/>
              <a:t>..</a:t>
            </a:r>
          </a:p>
          <a:p>
            <a:endParaRPr lang="en-US" altLang="ko-KR" sz="2400" dirty="0"/>
          </a:p>
          <a:p>
            <a:r>
              <a:rPr lang="ko-KR" altLang="en-US" sz="2400" dirty="0"/>
              <a:t>모든 </a:t>
            </a:r>
            <a:r>
              <a:rPr lang="en-US" altLang="ko-KR" sz="2400" dirty="0"/>
              <a:t>CCW</a:t>
            </a:r>
            <a:r>
              <a:rPr lang="ko-KR" altLang="en-US" sz="2400" dirty="0"/>
              <a:t>가 일직선인 경우 좌표를 비교해서 선분이 겹치는지 판단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(p1</a:t>
            </a:r>
            <a:r>
              <a:rPr lang="ko-KR" altLang="en-US" sz="2400" dirty="0"/>
              <a:t>이 </a:t>
            </a:r>
            <a:r>
              <a:rPr lang="en-US" altLang="ko-KR" sz="2400" dirty="0"/>
              <a:t>p3~p4 </a:t>
            </a:r>
            <a:r>
              <a:rPr lang="ko-KR" altLang="en-US" sz="2400" dirty="0"/>
              <a:t>사이에 있는지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|| (p2</a:t>
            </a:r>
            <a:r>
              <a:rPr lang="ko-KR" altLang="en-US" sz="2400" dirty="0"/>
              <a:t>가 </a:t>
            </a:r>
            <a:r>
              <a:rPr lang="en-US" altLang="ko-KR" sz="2400" dirty="0"/>
              <a:t>p3~p4 </a:t>
            </a:r>
            <a:r>
              <a:rPr lang="ko-KR" altLang="en-US" sz="2400" dirty="0"/>
              <a:t>사이에 있는지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||</a:t>
            </a:r>
          </a:p>
          <a:p>
            <a:pPr marL="0" indent="0">
              <a:buNone/>
            </a:pPr>
            <a:r>
              <a:rPr lang="en-US" altLang="ko-KR" sz="2400" dirty="0"/>
              <a:t>(p3</a:t>
            </a:r>
            <a:r>
              <a:rPr lang="ko-KR" altLang="en-US" sz="2400" dirty="0"/>
              <a:t>이 </a:t>
            </a:r>
            <a:r>
              <a:rPr lang="en-US" altLang="ko-KR" sz="2400" dirty="0"/>
              <a:t>p1~p2 </a:t>
            </a:r>
            <a:r>
              <a:rPr lang="ko-KR" altLang="en-US" sz="2400" dirty="0"/>
              <a:t>사이에 있는지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|| (p4</a:t>
            </a:r>
            <a:r>
              <a:rPr lang="ko-KR" altLang="en-US" sz="2400" dirty="0"/>
              <a:t>가 </a:t>
            </a:r>
            <a:r>
              <a:rPr lang="en-US" altLang="ko-KR" sz="2400" dirty="0"/>
              <a:t>p1~p2 </a:t>
            </a:r>
            <a:r>
              <a:rPr lang="ko-KR" altLang="en-US" sz="2400" dirty="0"/>
              <a:t>사이에 있는지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우선 </a:t>
            </a:r>
            <a:r>
              <a:rPr lang="en-US" altLang="ko-KR" sz="2400" dirty="0"/>
              <a:t>x</a:t>
            </a:r>
            <a:r>
              <a:rPr lang="ko-KR" altLang="en-US" sz="2400" dirty="0"/>
              <a:t>좌표 비교</a:t>
            </a:r>
            <a:r>
              <a:rPr lang="en-US" altLang="ko-KR" sz="2400" dirty="0"/>
              <a:t>, x</a:t>
            </a:r>
            <a:r>
              <a:rPr lang="ko-KR" altLang="en-US" sz="2400" dirty="0"/>
              <a:t>좌표가 모두 같다면 대신 </a:t>
            </a:r>
            <a:r>
              <a:rPr lang="en-US" altLang="ko-KR" sz="2400" dirty="0"/>
              <a:t>y</a:t>
            </a:r>
            <a:r>
              <a:rPr lang="ko-KR" altLang="en-US" sz="2400" dirty="0"/>
              <a:t>좌표로 비교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BOJ 17387: </a:t>
            </a:r>
            <a:r>
              <a:rPr lang="ko-KR" altLang="en-US" sz="2400" dirty="0"/>
              <a:t>선분 교차 </a:t>
            </a:r>
            <a:r>
              <a:rPr lang="en-US" altLang="ko-KR" sz="2400" dirty="0"/>
              <a:t>2</a:t>
            </a:r>
          </a:p>
          <a:p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652409-55FF-E05B-F477-80806C5E2C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8939" y="0"/>
            <a:ext cx="4076910" cy="20067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100FC7-CC8D-FCE0-C359-4A878DAA66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3927" y="106392"/>
            <a:ext cx="3531555" cy="179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7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0A074-CC0E-F97F-8E37-F2C0E1F1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볼록 껍질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07982A-3377-8BAB-DCCA-A6D643073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78531"/>
          </a:xfrm>
        </p:spPr>
        <p:txBody>
          <a:bodyPr>
            <a:normAutofit/>
          </a:bodyPr>
          <a:lstStyle/>
          <a:p>
            <a:r>
              <a:rPr lang="ko-KR" altLang="en-US" dirty="0"/>
              <a:t>주어진 점을 모두 둘러싸는 가장 작은 볼록 다각형</a:t>
            </a:r>
            <a:r>
              <a:rPr lang="en-US" altLang="ko-KR" dirty="0"/>
              <a:t> </a:t>
            </a:r>
            <a:r>
              <a:rPr lang="ko-KR" altLang="en-US" dirty="0"/>
              <a:t>껍질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티어작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용으로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볼록 껍질을 조금씩 응용하면 풀리는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플래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하위 문제들이 조금 있습니다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altLang="ko-KR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6C4B35-A199-D28E-3595-9F75F75A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858" y="2589213"/>
            <a:ext cx="3253355" cy="255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91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C9F17-330B-EDA3-CFDA-C153EAA6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Graham Scan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111E2-9886-F75F-9859-24E0DBDF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0982"/>
          </a:xfrm>
        </p:spPr>
        <p:txBody>
          <a:bodyPr>
            <a:normAutofit/>
          </a:bodyPr>
          <a:lstStyle/>
          <a:p>
            <a:r>
              <a:rPr lang="ko-KR" altLang="en-US" dirty="0"/>
              <a:t>볼록 껍질을 구하기 위한 알고리즘</a:t>
            </a:r>
            <a:endParaRPr lang="en-US" altLang="ko-KR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각도 정렬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기준점 잡기 </a:t>
            </a:r>
            <a:r>
              <a:rPr lang="en-US" altLang="ko-KR" sz="2400" dirty="0"/>
              <a:t>: </a:t>
            </a:r>
            <a:r>
              <a:rPr lang="ko-KR" altLang="en-US" sz="2400" dirty="0"/>
              <a:t>볼록 껍질에 반드시 포함될 점 선택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ex) </a:t>
            </a:r>
            <a:r>
              <a:rPr lang="ko-KR" altLang="en-US" sz="2400" dirty="0"/>
              <a:t>가장 작은 </a:t>
            </a:r>
            <a:r>
              <a:rPr lang="en-US" altLang="ko-KR" sz="2400" dirty="0"/>
              <a:t>x</a:t>
            </a:r>
            <a:r>
              <a:rPr lang="ko-KR" altLang="en-US" sz="2400" dirty="0"/>
              <a:t>좌표</a:t>
            </a:r>
            <a:r>
              <a:rPr lang="en-US" altLang="ko-KR" sz="2400" dirty="0"/>
              <a:t>. </a:t>
            </a:r>
            <a:r>
              <a:rPr lang="ko-KR" altLang="en-US" sz="2400" dirty="0"/>
              <a:t>여러 개라면 그 중 가장 작은 </a:t>
            </a:r>
            <a:r>
              <a:rPr lang="en-US" altLang="ko-KR" sz="2400" dirty="0"/>
              <a:t>y</a:t>
            </a:r>
            <a:r>
              <a:rPr lang="ko-KR" altLang="en-US" sz="2400" dirty="0"/>
              <a:t>좌표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CCW</a:t>
            </a:r>
            <a:r>
              <a:rPr lang="ko-KR" altLang="en-US" sz="2400" dirty="0"/>
              <a:t>를 이용한 비교 함수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&gt; </a:t>
            </a:r>
            <a:r>
              <a:rPr lang="ko-KR" altLang="en-US" sz="2400" dirty="0"/>
              <a:t>반시계 방향으로 정렬</a:t>
            </a:r>
            <a:r>
              <a:rPr lang="en-US" altLang="ko-KR" sz="2400" dirty="0"/>
              <a:t>, </a:t>
            </a:r>
            <a:r>
              <a:rPr lang="ko-KR" altLang="en-US" sz="2400" dirty="0"/>
              <a:t>즉 </a:t>
            </a:r>
            <a:r>
              <a:rPr lang="en-US" altLang="ko-KR" sz="2400" dirty="0"/>
              <a:t>CCW</a:t>
            </a:r>
            <a:r>
              <a:rPr lang="ko-KR" altLang="en-US" sz="2400" dirty="0"/>
              <a:t>가 </a:t>
            </a:r>
            <a:r>
              <a:rPr lang="en-US" altLang="ko-KR" sz="2400" dirty="0"/>
              <a:t>+</a:t>
            </a:r>
            <a:r>
              <a:rPr lang="ko-KR" altLang="en-US" sz="2400" dirty="0"/>
              <a:t>면 </a:t>
            </a:r>
            <a:r>
              <a:rPr lang="en-US" altLang="ko-KR" sz="2400" dirty="0"/>
              <a:t>true.</a:t>
            </a:r>
          </a:p>
          <a:p>
            <a:pPr marL="0" indent="0">
              <a:buNone/>
            </a:pPr>
            <a:r>
              <a:rPr lang="en-US" altLang="ko-KR" sz="2400" dirty="0"/>
              <a:t>&gt; CCW</a:t>
            </a:r>
            <a:r>
              <a:rPr lang="ko-KR" altLang="en-US" sz="2400" dirty="0"/>
              <a:t>가</a:t>
            </a:r>
            <a:r>
              <a:rPr lang="en-US" altLang="ko-KR" sz="2400" dirty="0"/>
              <a:t> 0</a:t>
            </a:r>
            <a:r>
              <a:rPr lang="ko-KR" altLang="en-US" sz="2400" dirty="0"/>
              <a:t>인 경우</a:t>
            </a:r>
            <a:r>
              <a:rPr lang="en-US" altLang="ko-KR" sz="1600" dirty="0"/>
              <a:t>(</a:t>
            </a:r>
            <a:r>
              <a:rPr lang="ko-KR" altLang="en-US" sz="1600" dirty="0"/>
              <a:t>같은 각도</a:t>
            </a:r>
            <a:r>
              <a:rPr lang="en-US" altLang="ko-KR" sz="1600" dirty="0"/>
              <a:t>)</a:t>
            </a:r>
            <a:r>
              <a:rPr lang="ko-KR" altLang="en-US" sz="2400" dirty="0"/>
              <a:t> 기준점과 거리가 가까운 점이 먼저 오도록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60424-18A9-D54B-F808-468DE7B890DA}"/>
              </a:ext>
            </a:extLst>
          </p:cNvPr>
          <p:cNvSpPr txBox="1"/>
          <p:nvPr/>
        </p:nvSpPr>
        <p:spPr>
          <a:xfrm>
            <a:off x="2349500" y="5918201"/>
            <a:ext cx="956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기준점을 예시처럼 </a:t>
            </a:r>
            <a:r>
              <a:rPr lang="en-US" altLang="ko-KR" dirty="0"/>
              <a:t>x</a:t>
            </a:r>
            <a:r>
              <a:rPr lang="ko-KR" altLang="en-US" dirty="0"/>
              <a:t>좌표 작고 </a:t>
            </a:r>
            <a:r>
              <a:rPr lang="en-US" altLang="ko-KR" dirty="0"/>
              <a:t>y</a:t>
            </a:r>
            <a:r>
              <a:rPr lang="ko-KR" altLang="en-US" dirty="0"/>
              <a:t>좌표 작은 거로 잡았다면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진짜로 거리 구해줄 것 없이 </a:t>
            </a:r>
            <a:r>
              <a:rPr lang="en-US" altLang="ko-KR" dirty="0"/>
              <a:t>x</a:t>
            </a:r>
            <a:r>
              <a:rPr lang="ko-KR" altLang="en-US" dirty="0"/>
              <a:t>좌표 작고 </a:t>
            </a:r>
            <a:r>
              <a:rPr lang="en-US" altLang="ko-KR" dirty="0"/>
              <a:t>y</a:t>
            </a:r>
            <a:r>
              <a:rPr lang="ko-KR" altLang="en-US" dirty="0"/>
              <a:t>좌표 작은 게 먼저 오도록 정렬해도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2748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B5896-CA98-692F-43F4-59175D04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Graham Scan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5CB738-4975-D716-E909-786A3F761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r>
              <a:rPr lang="ko-KR" altLang="en-US" dirty="0"/>
              <a:t>단조 스택 기억하시죠</a:t>
            </a:r>
            <a:r>
              <a:rPr lang="en-US" altLang="ko-KR" dirty="0"/>
              <a:t>? </a:t>
            </a:r>
            <a:r>
              <a:rPr lang="ko-KR" altLang="en-US" dirty="0"/>
              <a:t>이번에는 방향이 단조입니다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스택의 점들이 반시계방향을 유지하도록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각도 정렬된 순서대로 삽입을 시도해보며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스택의 상태 </a:t>
            </a:r>
            <a:r>
              <a:rPr lang="en-US" altLang="ko-KR" dirty="0"/>
              <a:t>: […, A, B], </a:t>
            </a:r>
            <a:r>
              <a:rPr lang="ko-KR" altLang="en-US" dirty="0"/>
              <a:t>현재 점</a:t>
            </a:r>
            <a:r>
              <a:rPr lang="en-US" altLang="ko-KR" dirty="0"/>
              <a:t> i</a:t>
            </a:r>
          </a:p>
          <a:p>
            <a:pPr marL="0" indent="0">
              <a:buNone/>
            </a:pPr>
            <a:r>
              <a:rPr lang="en-US" altLang="ko-KR" dirty="0"/>
              <a:t>2. while (CCW(A, B, </a:t>
            </a:r>
            <a:r>
              <a:rPr lang="en-US" altLang="ko-KR" dirty="0" err="1"/>
              <a:t>i</a:t>
            </a:r>
            <a:r>
              <a:rPr lang="en-US" altLang="ko-KR" dirty="0"/>
              <a:t>) ≤ 0)</a:t>
            </a:r>
            <a:r>
              <a:rPr lang="ko-KR" altLang="en-US" dirty="0"/>
              <a:t>이면 스택에서 </a:t>
            </a:r>
            <a:r>
              <a:rPr lang="en-US" altLang="ko-KR" dirty="0"/>
              <a:t>B</a:t>
            </a:r>
            <a:r>
              <a:rPr lang="ko-KR" altLang="en-US" dirty="0"/>
              <a:t> 제거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en-US" altLang="ko-KR" dirty="0" err="1"/>
              <a:t>i</a:t>
            </a:r>
            <a:r>
              <a:rPr lang="ko-KR" altLang="en-US" dirty="0"/>
              <a:t>를 스택에 넣음</a:t>
            </a:r>
          </a:p>
          <a:p>
            <a:endParaRPr lang="ko-KR" altLang="en-US" dirty="0"/>
          </a:p>
          <a:p>
            <a:r>
              <a:rPr lang="en-US" altLang="ko-KR" sz="2400" dirty="0"/>
              <a:t>[BOJ 1708: </a:t>
            </a:r>
            <a:r>
              <a:rPr lang="ko-KR" altLang="en-US" sz="2400" dirty="0"/>
              <a:t>볼록 껍질</a:t>
            </a:r>
            <a:r>
              <a:rPr lang="en-US" altLang="ko-KR" sz="2400" dirty="0"/>
              <a:t>]</a:t>
            </a:r>
            <a:r>
              <a:rPr lang="ko-KR" altLang="en-US" sz="2400" dirty="0"/>
              <a:t> 등등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ECAFE2-91C2-8AE3-E6BC-3495A46EB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2510633"/>
            <a:ext cx="1524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FFB1935-F864-4ACA-0F51-A77679FF0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50" y="0"/>
            <a:ext cx="2381250" cy="225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8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468FE-C0E0-44AC-6B4F-01A78B63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4181: Convex Hull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96260D-4322-4936-1DD4-75C9753EE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4700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일직선 위의 중간 점들을 제외하지 않고 포함한다면</a:t>
            </a:r>
            <a:r>
              <a:rPr lang="en-US" altLang="ko-KR" sz="2400" dirty="0"/>
              <a:t>?</a:t>
            </a:r>
          </a:p>
          <a:p>
            <a:endParaRPr lang="en-US" altLang="ko-KR" sz="2400" dirty="0"/>
          </a:p>
          <a:p>
            <a:r>
              <a:rPr lang="en-US" altLang="ko-KR" sz="2400" dirty="0"/>
              <a:t>CCW</a:t>
            </a:r>
            <a:r>
              <a:rPr lang="ko-KR" altLang="en-US" sz="2400" dirty="0"/>
              <a:t>가</a:t>
            </a:r>
            <a:r>
              <a:rPr lang="en-US" altLang="ko-KR" sz="2400" dirty="0"/>
              <a:t> 0</a:t>
            </a:r>
            <a:r>
              <a:rPr lang="ko-KR" altLang="en-US" sz="2400" dirty="0"/>
              <a:t>이어도</a:t>
            </a:r>
            <a:r>
              <a:rPr lang="en-US" altLang="ko-KR" sz="2400" dirty="0"/>
              <a:t> </a:t>
            </a:r>
            <a:r>
              <a:rPr lang="ko-KR" altLang="en-US" sz="2400" dirty="0"/>
              <a:t>제거하지 않도록 </a:t>
            </a:r>
            <a:r>
              <a:rPr lang="en-US" altLang="ko-KR" sz="2400" dirty="0"/>
              <a:t>while </a:t>
            </a:r>
            <a:r>
              <a:rPr lang="ko-KR" altLang="en-US" sz="2400" dirty="0"/>
              <a:t>부등호만 바꾸면 </a:t>
            </a:r>
            <a:r>
              <a:rPr lang="ko-KR" altLang="en-US" sz="2400" dirty="0" err="1"/>
              <a:t>되려나</a:t>
            </a:r>
            <a:r>
              <a:rPr lang="en-US" altLang="ko-KR" sz="2400" dirty="0"/>
              <a:t>?</a:t>
            </a:r>
          </a:p>
          <a:p>
            <a:r>
              <a:rPr lang="ko-KR" altLang="en-US" sz="2400" dirty="0"/>
              <a:t>→ 약간 </a:t>
            </a:r>
            <a:r>
              <a:rPr lang="en-US" altLang="ko-KR" sz="2400" dirty="0"/>
              <a:t>2% </a:t>
            </a:r>
            <a:r>
              <a:rPr lang="ko-KR" altLang="en-US" sz="2400" dirty="0"/>
              <a:t>부족한 상태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마지막 변의 점들의 순서를 뒤집어 줘야 합니다</a:t>
            </a:r>
            <a:r>
              <a:rPr lang="en-US" altLang="ko-KR" sz="2400" dirty="0"/>
              <a:t>.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대체 기하는 왜 </a:t>
            </a:r>
            <a:r>
              <a:rPr lang="ko-KR" altLang="en-US" sz="2400" dirty="0" err="1">
                <a:solidFill>
                  <a:schemeClr val="bg1">
                    <a:lumMod val="85000"/>
                  </a:schemeClr>
                </a:solidFill>
              </a:rPr>
              <a:t>이런거야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altLang="ko-KR" sz="2400" dirty="0"/>
          </a:p>
          <a:p>
            <a:r>
              <a:rPr lang="ko-KR" altLang="en-US" sz="2000" dirty="0"/>
              <a:t>마지막에 기준점으로 돌아오는 변에서는 거리가 먼 점 → 가까운 점 순서여야 하는데</a:t>
            </a:r>
            <a:r>
              <a:rPr lang="en-US" altLang="ko-KR" sz="2000" dirty="0"/>
              <a:t>,</a:t>
            </a:r>
          </a:p>
          <a:p>
            <a:r>
              <a:rPr lang="ko-KR" altLang="en-US" sz="2000" dirty="0"/>
              <a:t>비교함수가 기준과 거리가 가까운 점이 먼저 오도록 정렬했기에 마지막 변의 순서 </a:t>
            </a:r>
            <a:r>
              <a:rPr lang="en-US" altLang="ko-KR" sz="2000" dirty="0"/>
              <a:t>reverse.</a:t>
            </a:r>
          </a:p>
          <a:p>
            <a:endParaRPr lang="en-US" altLang="ko-KR" sz="2400" dirty="0"/>
          </a:p>
          <a:p>
            <a:endParaRPr lang="ko-KR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E7E29-77CE-9AD5-FFF6-7E029E1580EB}"/>
              </a:ext>
            </a:extLst>
          </p:cNvPr>
          <p:cNvSpPr txBox="1"/>
          <p:nvPr/>
        </p:nvSpPr>
        <p:spPr>
          <a:xfrm>
            <a:off x="7943850" y="5397778"/>
            <a:ext cx="33337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nsolas" panose="020B0609020204030204" pitchFamily="49" charset="0"/>
              </a:rPr>
              <a:t>for (int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=n-1;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&gt;=0;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--) {    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    if (</a:t>
            </a:r>
            <a:r>
              <a:rPr lang="en-US" altLang="ko-KR" sz="1200" dirty="0" err="1">
                <a:latin typeface="Consolas" panose="020B0609020204030204" pitchFamily="49" charset="0"/>
              </a:rPr>
              <a:t>ccw</a:t>
            </a:r>
            <a:r>
              <a:rPr lang="en-US" altLang="ko-KR" sz="1200" dirty="0">
                <a:latin typeface="Consolas" panose="020B0609020204030204" pitchFamily="49" charset="0"/>
              </a:rPr>
              <a:t>(v[0], v[i-1], v[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])) 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        reverse(</a:t>
            </a:r>
            <a:r>
              <a:rPr lang="en-US" altLang="ko-KR" sz="1200" dirty="0" err="1">
                <a:latin typeface="Consolas" panose="020B0609020204030204" pitchFamily="49" charset="0"/>
              </a:rPr>
              <a:t>v.begin</a:t>
            </a:r>
            <a:r>
              <a:rPr lang="en-US" altLang="ko-KR" sz="1200" dirty="0">
                <a:latin typeface="Consolas" panose="020B0609020204030204" pitchFamily="49" charset="0"/>
              </a:rPr>
              <a:t>()+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latin typeface="Consolas" panose="020B0609020204030204" pitchFamily="49" charset="0"/>
              </a:rPr>
              <a:t>v.end</a:t>
            </a:r>
            <a:r>
              <a:rPr lang="en-US" altLang="ko-KR" sz="1200" dirty="0"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       break;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818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DB225-7947-C3F4-55BC-A1A04F4B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E32B59-7339-C620-30F8-63CB45A1F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solidFill>
                  <a:schemeClr val="bg1">
                    <a:lumMod val="75000"/>
                  </a:schemeClr>
                </a:solidFill>
              </a:rPr>
              <a:t>기하하고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프로필 그래프 모양도 볼록 껍질로 만들어보아요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015A27-F6E1-F305-5784-BAA1E107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407" y="2436621"/>
            <a:ext cx="3606985" cy="374034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514102C-2C86-4B5C-6E92-AB87A5DF85D1}"/>
              </a:ext>
            </a:extLst>
          </p:cNvPr>
          <p:cNvCxnSpPr>
            <a:cxnSpLocks/>
          </p:cNvCxnSpPr>
          <p:nvPr/>
        </p:nvCxnSpPr>
        <p:spPr>
          <a:xfrm flipH="1" flipV="1">
            <a:off x="8077200" y="3568700"/>
            <a:ext cx="260350" cy="238685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712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582</Words>
  <Application>Microsoft Office PowerPoint</Application>
  <PresentationFormat>와이드스크린</PresentationFormat>
  <Paragraphs>116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Consolas</vt:lpstr>
      <vt:lpstr>Office 테마</vt:lpstr>
      <vt:lpstr>Convex Hull</vt:lpstr>
      <vt:lpstr>PowerPoint 프레젠테이션</vt:lpstr>
      <vt:lpstr>오늘 할 것</vt:lpstr>
      <vt:lpstr>CCW</vt:lpstr>
      <vt:lpstr>CCW</vt:lpstr>
      <vt:lpstr>CCW</vt:lpstr>
      <vt:lpstr>선분 교차 판정</vt:lpstr>
      <vt:lpstr>선분 교차 판정</vt:lpstr>
      <vt:lpstr>볼록 껍질</vt:lpstr>
      <vt:lpstr>Graham Scan</vt:lpstr>
      <vt:lpstr>Graham Scan</vt:lpstr>
      <vt:lpstr>BOJ 4181: Convex Hull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전상현</cp:lastModifiedBy>
  <cp:revision>108</cp:revision>
  <dcterms:created xsi:type="dcterms:W3CDTF">2025-09-09T00:29:56Z</dcterms:created>
  <dcterms:modified xsi:type="dcterms:W3CDTF">2025-11-25T07:24:15Z</dcterms:modified>
</cp:coreProperties>
</file>