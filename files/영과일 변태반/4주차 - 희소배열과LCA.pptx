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7" r:id="rId4"/>
    <p:sldId id="257" r:id="rId5"/>
    <p:sldId id="258" r:id="rId6"/>
    <p:sldId id="268" r:id="rId7"/>
    <p:sldId id="259" r:id="rId8"/>
    <p:sldId id="271" r:id="rId9"/>
    <p:sldId id="272" r:id="rId10"/>
    <p:sldId id="270" r:id="rId11"/>
    <p:sldId id="269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F6DEB-D1CE-41A9-BCA0-4AA241316D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242FA-0354-498F-91EB-A1077C819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6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242FA-0354-498F-91EB-A1077C8191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7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EE07E-E59D-48B7-6092-102E91EB5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B8E2D4-20E4-4004-9EE8-6FF3A1447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36559-391C-142D-7015-22EEF904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42832F-719E-EED8-1EA1-970CF1D8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992E66-CF91-249B-BC5B-9C6D02E5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27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81A80-12CF-BCE8-BF3A-C9C922BA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E789D1-74F6-F20E-1F54-51E999F24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50DE59-7013-B6A4-FCDD-93BFF404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F5E2A-34CD-0689-5174-D06FCB67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C582CD-D6B6-6B60-23C2-426BA79E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63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257EB-57CF-F6D3-51AE-EF182588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AB6118-4CEC-5CB1-7613-DA8BF1908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9AC4A2-0A03-0242-ADB3-B56712F0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B2864A-1085-6C5E-F386-CD87A3B4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56D17-9D28-5692-CC3E-F1971629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8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89442-4C1D-E4A5-808C-39E59C38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3858CA-D3E1-D5A4-E257-49535A1CC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02A990-800D-6F48-7376-5F91EB0EA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6F817F-92EB-5A3D-D154-183E6DCD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7D2977-C2F6-84A8-5CDB-85D9DB04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128341-DBBE-2877-3B4E-98AB960F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7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85BED-E690-5D71-D40B-FE8D6EE7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61668-B099-CA09-031C-1BE814D7C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120E10-0C81-4BE2-2B0F-64FF878BE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8F22DF-F2CD-7D53-6E27-2FD8BDEB7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F7A887-C04D-ABC9-8E89-A4916AAC5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197D55-7AD1-4A13-3501-465999D5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F9C410-8F6F-8648-6BD9-B60D76B3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84483C-F7FF-1D43-0642-82F4A627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41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B6789-478B-96C6-0241-1368236E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3F34E8-1980-0214-19A2-DD8C2DCF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0FF0E1-A3DE-0B93-A709-C42E3258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CED6D4-9795-885E-C831-1CD0CF2D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48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A350F0-FCE7-206D-9C41-C8526686F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58B83B-9A0D-C83C-0C96-23482ADD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806B2-76FF-BF10-AC4C-A467F3E5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7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EAD00-49E2-4998-4673-D20AA02B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58FA4-C9A3-D7CC-EA28-5AFCE1E9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F2EF34-9F7E-A86E-B073-3DC5AA4E0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D6E59C-25DD-7729-B586-2AE02C57C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28B217-372A-8117-5DA8-049D52AB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797B08-F1DE-6BD6-3C86-43D70DB1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4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2A8455-431A-11C3-FDAB-F96AF3BE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329B56-E61C-E95A-C8CC-F2EEDEA08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7BB2D6-E9C1-D54B-8BF0-FEC562939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DA9CF4-2604-6F9B-BB07-B6708516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C8993E-B53C-C8E5-7863-838F5FBEA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366DE-0C64-8E41-398B-510BA501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80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6C517-AD33-4176-CDB7-5E26585FD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6D924F-C4CE-E72E-1A47-1FA31751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0FB1B-5F6F-FD2C-16E3-90C8AB40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961287-562B-85CA-E7E7-F6C940BD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446B41-35ED-5303-13AD-D021C0D1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66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D9253-105A-EE92-566A-E828C15EC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4FFF3E-12B5-3E5D-4E19-BE1BDCAF0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1F269-B224-3733-3723-1462FCDC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386FB-950A-3110-ACC2-E953BA2D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FC1D0E-8EA4-06A2-380E-588DB2C36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57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1EF25B-A864-7B97-DC08-06133E76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D07BF5-80DE-362D-0C84-B759B7AA0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40AE1-C23E-558A-640B-8398547F3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C50B1-FE93-4009-B581-A4563A15EAB5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BA912F-E952-C897-D8AB-AFB029299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07E22-0928-50A0-87B3-E86D198D1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6C36C-29C0-491F-9F3A-D4D9E05BCA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92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9D705-0D30-5E94-F0F9-5303D53AA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희소 배열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LCA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E9EB24-CB00-3150-1DB0-4FFA235E7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0&amp;1 </a:t>
            </a:r>
            <a:r>
              <a:rPr lang="ko-KR" altLang="en-US" dirty="0"/>
              <a:t>스터디 </a:t>
            </a:r>
            <a:r>
              <a:rPr lang="en-US" altLang="ko-KR" dirty="0"/>
              <a:t>4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ko-KR" altLang="en-US" dirty="0"/>
              <a:t>김범수</a:t>
            </a:r>
          </a:p>
        </p:txBody>
      </p:sp>
    </p:spTree>
    <p:extLst>
      <p:ext uri="{BB962C8B-B14F-4D97-AF65-F5344CB8AC3E}">
        <p14:creationId xmlns:p14="http://schemas.microsoft.com/office/powerpoint/2010/main" val="111263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9B351-AB46-6612-1438-81B5DA47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LCA (Lowest Common Ancestor)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C9CE4F-A222-3073-8F07-2694FF6FE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최소 공통 조상</a:t>
            </a:r>
            <a:endParaRPr lang="en-US" altLang="ko-KR" dirty="0"/>
          </a:p>
          <a:p>
            <a:r>
              <a:rPr lang="ko-KR" altLang="en-US" dirty="0"/>
              <a:t>트리에서 어떤 두 정점이 갖는 가장 가까운 공통 조상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836850-3FC8-B97B-D65A-C3014052B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186" y="2473175"/>
            <a:ext cx="4330048" cy="39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65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D41C6-DAC6-D93C-9558-A79CD3BD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3584: </a:t>
            </a:r>
            <a:r>
              <a:rPr lang="ko-KR" altLang="en-US" dirty="0"/>
              <a:t>가장 가까운 공통 조상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E111C-278A-AA97-0F70-25387A88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두 정점의 깊이가 다른 경우</a:t>
            </a:r>
            <a:r>
              <a:rPr lang="en-US" altLang="ko-KR" dirty="0"/>
              <a:t>, </a:t>
            </a:r>
            <a:r>
              <a:rPr lang="ko-KR" altLang="en-US" dirty="0"/>
              <a:t>서로 깊이가 맞춰질 때까지 깊은 정점이 부모 방향으로 이동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Consolas" panose="020B0609020204030204" pitchFamily="49" charset="0"/>
              </a:rPr>
              <a:t>  while (depth[a]&gt;depth[b]) a = p[a];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두 정점이 하나로 모일 때까지 </a:t>
            </a:r>
            <a:r>
              <a:rPr lang="en-US" altLang="ko-KR" dirty="0"/>
              <a:t>1</a:t>
            </a:r>
            <a:r>
              <a:rPr lang="ko-KR" altLang="en-US" dirty="0"/>
              <a:t>개씩 부모로 올라가기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Consolas" panose="020B0609020204030204" pitchFamily="49" charset="0"/>
              </a:rPr>
              <a:t>  while (a!=b) a = p[a], b = p[b];</a:t>
            </a:r>
            <a:endParaRPr lang="ko-KR" altLang="en-US" dirty="0">
              <a:latin typeface="Consolas" panose="020B0609020204030204" pitchFamily="49" charset="0"/>
            </a:endParaRP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모인 정점이 바로 </a:t>
            </a:r>
            <a:r>
              <a:rPr lang="en-US" altLang="ko-KR" dirty="0"/>
              <a:t>LCA.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02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DE07E-AE6E-B286-0628-88A2E4A1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11438: LCA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87EA8B-F6B7-20B8-7FCF-43E5A937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그러면 이 </a:t>
            </a:r>
            <a:r>
              <a:rPr lang="en-US" altLang="ko-KR" dirty="0"/>
              <a:t>LCA</a:t>
            </a:r>
            <a:r>
              <a:rPr lang="ko-KR" altLang="en-US" dirty="0"/>
              <a:t>를 구하는 작업을 </a:t>
            </a:r>
            <a:r>
              <a:rPr lang="en-US" altLang="ko-KR" dirty="0"/>
              <a:t>100000</a:t>
            </a:r>
            <a:r>
              <a:rPr lang="ko-KR" altLang="en-US" dirty="0"/>
              <a:t>번 반복해야 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당연하게도 앞의 과정을 단순히 반복해서는 시간 내에 구할 수 없을 것이다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바로 이를 위한 자료구조 </a:t>
            </a:r>
            <a:r>
              <a:rPr lang="en-US" altLang="ko-KR" dirty="0"/>
              <a:t>- </a:t>
            </a:r>
            <a:r>
              <a:rPr lang="ko-KR" altLang="en-US" dirty="0"/>
              <a:t>희소 배열</a:t>
            </a:r>
            <a:r>
              <a:rPr lang="en-US" altLang="ko-KR" dirty="0"/>
              <a:t>!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18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1F93E-70FE-E2F6-6494-516379B8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17435: </a:t>
            </a:r>
            <a:r>
              <a:rPr lang="ko-KR" altLang="en-US" dirty="0"/>
              <a:t>합성함수와 쿼리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C03C7-F3E8-2985-4304-A5F5BEBE2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함수 </a:t>
            </a:r>
            <a:r>
              <a:rPr lang="en-US" altLang="ko-KR" dirty="0"/>
              <a:t>f: {1..M}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{1..M}</a:t>
            </a:r>
            <a:r>
              <a:rPr lang="ko-KR" altLang="en-US" dirty="0"/>
              <a:t>가 있을 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f1(x)</a:t>
            </a:r>
            <a:r>
              <a:rPr lang="ko-KR" altLang="en-US" dirty="0"/>
              <a:t> </a:t>
            </a:r>
            <a:r>
              <a:rPr lang="en-US" altLang="ko-KR" dirty="0"/>
              <a:t>= f(x), </a:t>
            </a:r>
            <a:r>
              <a:rPr lang="en-US" altLang="ko-KR" dirty="0" err="1"/>
              <a:t>fn</a:t>
            </a:r>
            <a:r>
              <a:rPr lang="en-US" altLang="ko-KR" dirty="0"/>
              <a:t>(x) = f(fn-1(x))</a:t>
            </a:r>
            <a:r>
              <a:rPr lang="ko-KR" altLang="en-US" dirty="0"/>
              <a:t>로 정의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(f * f)(x), f4(x), </a:t>
            </a:r>
            <a:r>
              <a:rPr lang="ko-KR" altLang="en-US" dirty="0"/>
              <a:t>나아가 </a:t>
            </a:r>
            <a:r>
              <a:rPr lang="en-US" altLang="ko-KR" dirty="0"/>
              <a:t>f123456(x) </a:t>
            </a:r>
            <a:r>
              <a:rPr lang="ko-KR" altLang="en-US" dirty="0"/>
              <a:t>등의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fn</a:t>
            </a:r>
            <a:r>
              <a:rPr lang="en-US" altLang="ko-KR" dirty="0"/>
              <a:t>(x)</a:t>
            </a:r>
            <a:r>
              <a:rPr lang="ko-KR" altLang="en-US" dirty="0"/>
              <a:t>를 구하는 쿼리가 여러 번 주어진다면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84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F1BEC-DAE4-CBC6-AF12-73BB411C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빠르게 구할 방법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C6B71F-5B74-6E01-706F-53051C0B2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F(x)</a:t>
            </a:r>
            <a:r>
              <a:rPr lang="ko-KR" altLang="en-US" dirty="0"/>
              <a:t>을 </a:t>
            </a:r>
            <a:r>
              <a:rPr lang="en-US" altLang="ko-KR" dirty="0"/>
              <a:t>234567</a:t>
            </a:r>
            <a:r>
              <a:rPr lang="ko-KR" altLang="en-US" dirty="0"/>
              <a:t>회 적용하는 것처럼 매번 반복해서는 시간 초과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분할 정복을 이용한 거듭제곱을 생각해 본다면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x^4 = x^2 * x^2,  x^8 = x^4 * x^4</a:t>
            </a:r>
          </a:p>
          <a:p>
            <a:endParaRPr lang="en-US" altLang="ko-KR" dirty="0"/>
          </a:p>
          <a:p>
            <a:r>
              <a:rPr lang="en-US" altLang="ko-KR" dirty="0"/>
              <a:t>F4(x) = f2(f2(x)), F8(x) = f4(f4(x))</a:t>
            </a:r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의 거듭제곱번 합성된 </a:t>
            </a:r>
            <a:r>
              <a:rPr lang="en-US" altLang="ko-KR" dirty="0" err="1"/>
              <a:t>fn</a:t>
            </a:r>
            <a:r>
              <a:rPr lang="en-US" altLang="ko-KR" dirty="0"/>
              <a:t>(x)</a:t>
            </a:r>
            <a:r>
              <a:rPr lang="ko-KR" altLang="en-US" dirty="0"/>
              <a:t>들을 가지고 있는 테이블이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29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B00A9-C775-CE7F-8108-EE439B67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 배열 </a:t>
            </a:r>
            <a:r>
              <a:rPr lang="en-US" altLang="ko-KR" dirty="0"/>
              <a:t>(Sparse Table)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DFB4703-F89E-BCE8-118A-A859A0F3C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594454"/>
              </p:ext>
            </p:extLst>
          </p:nvPr>
        </p:nvGraphicFramePr>
        <p:xfrm>
          <a:off x="838200" y="6186520"/>
          <a:ext cx="10515600" cy="453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53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36EDB1-C271-F830-CCAA-4FF73BF0EBAD}"/>
              </a:ext>
            </a:extLst>
          </p:cNvPr>
          <p:cNvSpPr txBox="1"/>
          <p:nvPr/>
        </p:nvSpPr>
        <p:spPr>
          <a:xfrm>
            <a:off x="214792" y="5038405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f(x)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F4100-931B-90B6-6EBF-BC0A409C14E9}"/>
              </a:ext>
            </a:extLst>
          </p:cNvPr>
          <p:cNvSpPr txBox="1"/>
          <p:nvPr/>
        </p:nvSpPr>
        <p:spPr>
          <a:xfrm>
            <a:off x="95811" y="4062685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f(f(x))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E3EB7-9062-5025-F208-74C713866949}"/>
              </a:ext>
            </a:extLst>
          </p:cNvPr>
          <p:cNvSpPr txBox="1"/>
          <p:nvPr/>
        </p:nvSpPr>
        <p:spPr>
          <a:xfrm>
            <a:off x="151473" y="332222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f4(x)</a:t>
            </a:r>
            <a:endParaRPr lang="ko-KR" altLang="en-US" dirty="0"/>
          </a:p>
        </p:txBody>
      </p:sp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CF103BF6-09E9-B0A3-E9C1-BF4CA3CF7C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20181"/>
              </p:ext>
            </p:extLst>
          </p:nvPr>
        </p:nvGraphicFramePr>
        <p:xfrm>
          <a:off x="838200" y="4976252"/>
          <a:ext cx="10515600" cy="493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93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6064BE-6454-BF9A-8A12-AD2A51915C75}"/>
              </a:ext>
            </a:extLst>
          </p:cNvPr>
          <p:cNvCxnSpPr>
            <a:cxnSpLocks/>
          </p:cNvCxnSpPr>
          <p:nvPr/>
        </p:nvCxnSpPr>
        <p:spPr>
          <a:xfrm flipV="1">
            <a:off x="4160827" y="5547769"/>
            <a:ext cx="0" cy="533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075918D-B144-2CDD-5D07-C6A7E0574339}"/>
              </a:ext>
            </a:extLst>
          </p:cNvPr>
          <p:cNvCxnSpPr>
            <a:cxnSpLocks/>
          </p:cNvCxnSpPr>
          <p:nvPr/>
        </p:nvCxnSpPr>
        <p:spPr>
          <a:xfrm flipV="1">
            <a:off x="5406620" y="5596864"/>
            <a:ext cx="0" cy="484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20" name="내용 개체 틀 3">
            <a:extLst>
              <a:ext uri="{FF2B5EF4-FFF2-40B4-BE49-F238E27FC236}">
                <a16:creationId xmlns:a16="http://schemas.microsoft.com/office/drawing/2014/main" id="{3268AE93-67EF-BCC7-98C1-6599FC8D19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7039682"/>
              </p:ext>
            </p:extLst>
          </p:nvPr>
        </p:nvGraphicFramePr>
        <p:xfrm>
          <a:off x="838200" y="3949398"/>
          <a:ext cx="10515600" cy="493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93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C3A7114-085E-EA63-C3DF-0CD4E9DA43B1}"/>
              </a:ext>
            </a:extLst>
          </p:cNvPr>
          <p:cNvCxnSpPr>
            <a:cxnSpLocks/>
          </p:cNvCxnSpPr>
          <p:nvPr/>
        </p:nvCxnSpPr>
        <p:spPr>
          <a:xfrm>
            <a:off x="4320387" y="5639823"/>
            <a:ext cx="981906" cy="44185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BCB9A65-1CC1-199E-3A65-C9CF3D913185}"/>
              </a:ext>
            </a:extLst>
          </p:cNvPr>
          <p:cNvCxnSpPr>
            <a:cxnSpLocks/>
          </p:cNvCxnSpPr>
          <p:nvPr/>
        </p:nvCxnSpPr>
        <p:spPr>
          <a:xfrm>
            <a:off x="4320387" y="4481975"/>
            <a:ext cx="981906" cy="44185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7BBED8-618C-1550-9AB3-261A690CA736}"/>
              </a:ext>
            </a:extLst>
          </p:cNvPr>
          <p:cNvSpPr txBox="1"/>
          <p:nvPr/>
        </p:nvSpPr>
        <p:spPr>
          <a:xfrm>
            <a:off x="151473" y="276643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f8(x)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630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EEA2-3DB5-6B8E-A64E-A37BDE19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2C7CD-6241-C28B-03D4-EF34D88A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 배열</a:t>
            </a:r>
          </a:p>
        </p:txBody>
      </p:sp>
      <p:graphicFrame>
        <p:nvGraphicFramePr>
          <p:cNvPr id="11" name="내용 개체 틀 3">
            <a:extLst>
              <a:ext uri="{FF2B5EF4-FFF2-40B4-BE49-F238E27FC236}">
                <a16:creationId xmlns:a16="http://schemas.microsoft.com/office/drawing/2014/main" id="{2B11F452-343B-1E08-D0F6-6988BB0568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917302"/>
              </p:ext>
            </p:extLst>
          </p:nvPr>
        </p:nvGraphicFramePr>
        <p:xfrm>
          <a:off x="838200" y="6186520"/>
          <a:ext cx="10515600" cy="453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53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8FBAC4-6297-DDEC-9CA1-C1223857A3AE}"/>
              </a:ext>
            </a:extLst>
          </p:cNvPr>
          <p:cNvSpPr txBox="1"/>
          <p:nvPr/>
        </p:nvSpPr>
        <p:spPr>
          <a:xfrm>
            <a:off x="214792" y="5038405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f(x)</a:t>
            </a:r>
            <a:endParaRPr lang="ko-KR" altLang="en-US" dirty="0"/>
          </a:p>
        </p:txBody>
      </p:sp>
      <p:graphicFrame>
        <p:nvGraphicFramePr>
          <p:cNvPr id="13" name="내용 개체 틀 3">
            <a:extLst>
              <a:ext uri="{FF2B5EF4-FFF2-40B4-BE49-F238E27FC236}">
                <a16:creationId xmlns:a16="http://schemas.microsoft.com/office/drawing/2014/main" id="{7C360BFC-A27A-F5A4-27FE-942137D587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6474636"/>
              </p:ext>
            </p:extLst>
          </p:nvPr>
        </p:nvGraphicFramePr>
        <p:xfrm>
          <a:off x="838200" y="4976252"/>
          <a:ext cx="10515600" cy="493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93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graphicFrame>
        <p:nvGraphicFramePr>
          <p:cNvPr id="16" name="내용 개체 틀 3">
            <a:extLst>
              <a:ext uri="{FF2B5EF4-FFF2-40B4-BE49-F238E27FC236}">
                <a16:creationId xmlns:a16="http://schemas.microsoft.com/office/drawing/2014/main" id="{949AEBA7-E4FB-F288-82DD-E88D664CE2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6274188"/>
              </p:ext>
            </p:extLst>
          </p:nvPr>
        </p:nvGraphicFramePr>
        <p:xfrm>
          <a:off x="838200" y="3877480"/>
          <a:ext cx="10515600" cy="493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93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C2B6451-9B11-01D0-635D-34314A38426E}"/>
              </a:ext>
            </a:extLst>
          </p:cNvPr>
          <p:cNvSpPr txBox="1"/>
          <p:nvPr/>
        </p:nvSpPr>
        <p:spPr>
          <a:xfrm>
            <a:off x="148978" y="295110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f4(x)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5BD505-5692-DC6C-4850-F55CE9D05A4A}"/>
              </a:ext>
            </a:extLst>
          </p:cNvPr>
          <p:cNvSpPr txBox="1"/>
          <p:nvPr/>
        </p:nvSpPr>
        <p:spPr>
          <a:xfrm>
            <a:off x="148979" y="19256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f8(x)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30C791-471E-CA1D-B349-8363ED631125}"/>
              </a:ext>
            </a:extLst>
          </p:cNvPr>
          <p:cNvSpPr txBox="1"/>
          <p:nvPr/>
        </p:nvSpPr>
        <p:spPr>
          <a:xfrm>
            <a:off x="148978" y="393963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f2(x)</a:t>
            </a:r>
            <a:endParaRPr lang="ko-KR" altLang="en-US" dirty="0"/>
          </a:p>
        </p:txBody>
      </p:sp>
      <p:graphicFrame>
        <p:nvGraphicFramePr>
          <p:cNvPr id="22" name="내용 개체 틀 3">
            <a:extLst>
              <a:ext uri="{FF2B5EF4-FFF2-40B4-BE49-F238E27FC236}">
                <a16:creationId xmlns:a16="http://schemas.microsoft.com/office/drawing/2014/main" id="{4BF2679E-81E1-69EA-E4A4-8C6938EF17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7017716"/>
              </p:ext>
            </p:extLst>
          </p:nvPr>
        </p:nvGraphicFramePr>
        <p:xfrm>
          <a:off x="838200" y="2888950"/>
          <a:ext cx="10515600" cy="493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93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FD864E-9385-C6DB-A5C6-709CC796B1EC}"/>
              </a:ext>
            </a:extLst>
          </p:cNvPr>
          <p:cNvSpPr/>
          <p:nvPr/>
        </p:nvSpPr>
        <p:spPr>
          <a:xfrm>
            <a:off x="214792" y="4731560"/>
            <a:ext cx="11543533" cy="105554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99F6BEF-4E20-8DB5-57CF-45F7B506904F}"/>
              </a:ext>
            </a:extLst>
          </p:cNvPr>
          <p:cNvCxnSpPr>
            <a:cxnSpLocks/>
          </p:cNvCxnSpPr>
          <p:nvPr/>
        </p:nvCxnSpPr>
        <p:spPr>
          <a:xfrm flipV="1">
            <a:off x="1541986" y="4528108"/>
            <a:ext cx="0" cy="1531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내용 개체 틀 3">
            <a:extLst>
              <a:ext uri="{FF2B5EF4-FFF2-40B4-BE49-F238E27FC236}">
                <a16:creationId xmlns:a16="http://schemas.microsoft.com/office/drawing/2014/main" id="{64A2A227-53D3-F46E-2B73-DFF8273EBC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4762127"/>
              </p:ext>
            </p:extLst>
          </p:nvPr>
        </p:nvGraphicFramePr>
        <p:xfrm>
          <a:off x="838200" y="1879621"/>
          <a:ext cx="10515600" cy="493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56008206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172675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0081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41116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176635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61257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469149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72626921"/>
                    </a:ext>
                  </a:extLst>
                </a:gridCol>
              </a:tblGrid>
              <a:tr h="493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1041"/>
                  </a:ext>
                </a:extLst>
              </a:tr>
            </a:tbl>
          </a:graphicData>
        </a:graphic>
      </p:graphicFrame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68B20B-016C-228F-24AF-021484227F41}"/>
              </a:ext>
            </a:extLst>
          </p:cNvPr>
          <p:cNvCxnSpPr>
            <a:cxnSpLocks/>
          </p:cNvCxnSpPr>
          <p:nvPr/>
        </p:nvCxnSpPr>
        <p:spPr>
          <a:xfrm>
            <a:off x="1755648" y="4615891"/>
            <a:ext cx="3546645" cy="14657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017D9DE-1A50-C193-D6B4-71877598A1A6}"/>
              </a:ext>
            </a:extLst>
          </p:cNvPr>
          <p:cNvCxnSpPr>
            <a:cxnSpLocks/>
          </p:cNvCxnSpPr>
          <p:nvPr/>
        </p:nvCxnSpPr>
        <p:spPr>
          <a:xfrm flipV="1">
            <a:off x="5406620" y="4476902"/>
            <a:ext cx="0" cy="160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C7CDEAC-83E3-2C65-B56E-0E8C852C9BFD}"/>
              </a:ext>
            </a:extLst>
          </p:cNvPr>
          <p:cNvCxnSpPr>
            <a:cxnSpLocks/>
          </p:cNvCxnSpPr>
          <p:nvPr/>
        </p:nvCxnSpPr>
        <p:spPr>
          <a:xfrm>
            <a:off x="1541986" y="3435622"/>
            <a:ext cx="3864634" cy="36944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85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FD5F-CA16-B524-679F-72585B63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29289-44F4-D5CE-3171-BB2BD0CB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 배열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6ABE87B1-8773-56A7-50FF-C743C114B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이렇게 희소 배열을 만들면 저희는 이제</a:t>
            </a:r>
            <a:endParaRPr lang="en-US" altLang="ko-KR" sz="2400" dirty="0"/>
          </a:p>
          <a:p>
            <a:r>
              <a:rPr lang="en-US" altLang="ko-KR" sz="2400" dirty="0"/>
              <a:t>F(x), f2(x), f4(x), f8(x), f16(x), … </a:t>
            </a:r>
            <a:r>
              <a:rPr lang="ko-KR" altLang="en-US" sz="2400" dirty="0"/>
              <a:t>의 정보를 들고 있고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바로 사용할 수 있습니다</a:t>
            </a:r>
            <a:r>
              <a:rPr lang="en-US" altLang="ko-KR" sz="2400" dirty="0"/>
              <a:t>!</a:t>
            </a:r>
          </a:p>
          <a:p>
            <a:endParaRPr lang="en-US" altLang="ko-KR" sz="2400" dirty="0"/>
          </a:p>
          <a:p>
            <a:r>
              <a:rPr lang="en-US" altLang="ko-KR" sz="2400" dirty="0"/>
              <a:t>f13(x) = (f8 * f4 * f1)(x)</a:t>
            </a:r>
          </a:p>
          <a:p>
            <a:r>
              <a:rPr lang="en-US" altLang="ko-KR" sz="2400" dirty="0"/>
              <a:t>f6(x) = (f4 * f2)(x)</a:t>
            </a:r>
          </a:p>
          <a:p>
            <a:endParaRPr lang="en-US" altLang="ko-KR" sz="2400" dirty="0"/>
          </a:p>
          <a:p>
            <a:r>
              <a:rPr lang="en-US" altLang="ko-KR" sz="2400" dirty="0"/>
              <a:t>2</a:t>
            </a:r>
            <a:r>
              <a:rPr lang="ko-KR" altLang="en-US" sz="2400" dirty="0"/>
              <a:t>의 거듭제곱씩은 한번에 건너뛰며 </a:t>
            </a:r>
            <a:r>
              <a:rPr lang="en-US" altLang="ko-KR" sz="2400" dirty="0"/>
              <a:t>O(</a:t>
            </a:r>
            <a:r>
              <a:rPr lang="en-US" altLang="ko-KR" sz="2400" dirty="0" err="1"/>
              <a:t>logN</a:t>
            </a:r>
            <a:r>
              <a:rPr lang="en-US" altLang="ko-KR" sz="2400" dirty="0"/>
              <a:t>)</a:t>
            </a:r>
            <a:r>
              <a:rPr lang="ko-KR" altLang="en-US" sz="2400" dirty="0"/>
              <a:t>으로 구할 수 있게 되었습니다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07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1F76B-0018-B4CA-8CB9-9D32C80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다시 </a:t>
            </a:r>
            <a:r>
              <a:rPr lang="en-US" altLang="ko-KR" dirty="0"/>
              <a:t>BOJ 11438: LCA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6CA23D-5511-A6AB-10D4-AA3BE08F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P(v) = v</a:t>
            </a:r>
            <a:r>
              <a:rPr lang="ko-KR" altLang="en-US" dirty="0"/>
              <a:t>의 부모 </a:t>
            </a:r>
            <a:endParaRPr lang="en-US" altLang="ko-KR" dirty="0"/>
          </a:p>
          <a:p>
            <a:r>
              <a:rPr lang="en-US" altLang="ko-KR" dirty="0"/>
              <a:t>P2(v) = (P * P)(v) = v</a:t>
            </a:r>
            <a:r>
              <a:rPr lang="ko-KR" altLang="en-US" dirty="0"/>
              <a:t>의 조부모</a:t>
            </a:r>
            <a:endParaRPr lang="en-US" altLang="ko-KR" dirty="0"/>
          </a:p>
          <a:p>
            <a:r>
              <a:rPr lang="en-US" altLang="ko-KR" dirty="0" err="1"/>
              <a:t>Pn</a:t>
            </a:r>
            <a:r>
              <a:rPr lang="en-US" altLang="ko-KR" dirty="0"/>
              <a:t>(v) = v</a:t>
            </a:r>
            <a:r>
              <a:rPr lang="ko-KR" altLang="en-US" dirty="0"/>
              <a:t>의 </a:t>
            </a:r>
            <a:r>
              <a:rPr lang="en-US" altLang="ko-KR" dirty="0"/>
              <a:t>n</a:t>
            </a:r>
            <a:r>
              <a:rPr lang="ko-KR" altLang="en-US" dirty="0"/>
              <a:t>단계 부모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sz="2400" dirty="0"/>
              <a:t>루트의 부모는 </a:t>
            </a:r>
            <a:r>
              <a:rPr lang="en-US" altLang="ko-KR" sz="2400" dirty="0"/>
              <a:t>P(1)</a:t>
            </a:r>
            <a:r>
              <a:rPr lang="ko-KR" altLang="en-US" sz="2400" dirty="0"/>
              <a:t> </a:t>
            </a:r>
            <a:r>
              <a:rPr lang="en-US" altLang="ko-KR" sz="2400" dirty="0"/>
              <a:t>= 0</a:t>
            </a:r>
            <a:r>
              <a:rPr lang="ko-KR" altLang="en-US" sz="2400" dirty="0"/>
              <a:t>이나 </a:t>
            </a:r>
            <a:r>
              <a:rPr lang="en-US" altLang="ko-KR" sz="2400" dirty="0"/>
              <a:t>1(</a:t>
            </a:r>
            <a:r>
              <a:rPr lang="ko-KR" altLang="en-US" sz="2400" dirty="0"/>
              <a:t>본인</a:t>
            </a:r>
            <a:r>
              <a:rPr lang="en-US" altLang="ko-KR" sz="2400" dirty="0"/>
              <a:t>)</a:t>
            </a:r>
            <a:r>
              <a:rPr lang="ko-KR" altLang="en-US" sz="2400" dirty="0"/>
              <a:t>처럼 임의로 정의해두면 해결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이걸로 희소 배열을 만들면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이제 정점의 </a:t>
            </a:r>
            <a:r>
              <a:rPr lang="en-US" altLang="ko-KR" sz="2400" dirty="0"/>
              <a:t>2, 4, 8, 16, … </a:t>
            </a:r>
            <a:r>
              <a:rPr lang="ko-KR" altLang="en-US" sz="2400" dirty="0"/>
              <a:t>번째 부모를 빠르게 구할 수 있다</a:t>
            </a:r>
            <a:r>
              <a:rPr lang="en-US" altLang="ko-KR" sz="2400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422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93E74-2022-1AC2-A017-CDA5A741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11438: LCA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7F56A-17AB-41EA-A174-0C47F09CF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064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처음에 봤던 방법에 희소 배열을 적용한다면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두 정점의 깊이가 다른 경우</a:t>
            </a:r>
            <a:r>
              <a:rPr lang="en-US" altLang="ko-KR" sz="2400" dirty="0"/>
              <a:t>, </a:t>
            </a:r>
            <a:r>
              <a:rPr lang="ko-KR" altLang="en-US" sz="2400" dirty="0"/>
              <a:t>서로 깊이가 맞춰지도록 이동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깊이 차이가 </a:t>
            </a:r>
            <a:r>
              <a:rPr lang="en-US" altLang="ko-KR" sz="2000" dirty="0"/>
              <a:t>23</a:t>
            </a:r>
            <a:r>
              <a:rPr lang="ko-KR" altLang="en-US" sz="2000" dirty="0"/>
              <a:t>이면 </a:t>
            </a:r>
            <a:r>
              <a:rPr lang="en-US" altLang="ko-KR" sz="2000" dirty="0"/>
              <a:t>16, 4, 2, 1</a:t>
            </a:r>
            <a:r>
              <a:rPr lang="ko-KR" altLang="en-US" sz="2000" dirty="0"/>
              <a:t>째 부모를 차례로 타서 올라가기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두 정점이 모이는 점까지 부모로 건너뛰며 이동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2^16</a:t>
            </a:r>
            <a:r>
              <a:rPr lang="ko-KR" altLang="en-US" sz="2000" dirty="0"/>
              <a:t>째 부모부터 보기 시작해서</a:t>
            </a:r>
            <a:r>
              <a:rPr lang="en-US" altLang="ko-KR" sz="2000" dirty="0"/>
              <a:t>,</a:t>
            </a:r>
          </a:p>
          <a:p>
            <a:pPr marL="0" indent="0">
              <a:buNone/>
            </a:pPr>
            <a:r>
              <a:rPr lang="ko-KR" altLang="en-US" sz="2000" dirty="0"/>
              <a:t>두 부모가 같다면 </a:t>
            </a:r>
            <a:r>
              <a:rPr lang="en-US" altLang="ko-KR" sz="2000" dirty="0"/>
              <a:t>2^15, 2^14</a:t>
            </a:r>
            <a:r>
              <a:rPr lang="ko-KR" altLang="en-US" sz="2000" dirty="0"/>
              <a:t>째 등 건너뛰는 단위를 줄이기 </a:t>
            </a:r>
            <a:r>
              <a:rPr lang="en-US" altLang="ko-KR" sz="1600" dirty="0"/>
              <a:t>(LCA</a:t>
            </a:r>
            <a:r>
              <a:rPr lang="ko-KR" altLang="en-US" sz="1600" dirty="0"/>
              <a:t>를 이미 넘어선 부모일수도</a:t>
            </a:r>
            <a:r>
              <a:rPr lang="en-US" altLang="ko-KR" sz="1600" dirty="0"/>
              <a:t>)</a:t>
            </a:r>
          </a:p>
          <a:p>
            <a:pPr marL="0" indent="0">
              <a:buNone/>
            </a:pPr>
            <a:r>
              <a:rPr lang="ko-KR" altLang="en-US" sz="2000" dirty="0"/>
              <a:t>두 부모가 다르다면 이동 후 다시 검사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2^0(= 1)</a:t>
            </a:r>
            <a:r>
              <a:rPr lang="ko-KR" altLang="en-US" sz="2000" dirty="0"/>
              <a:t>에 도달하면 기존처럼 모일 때까지 하나씩 올라가기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31742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C2640-EC7F-6D55-32BF-0FD71F7E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트리의 </a:t>
            </a:r>
            <a:r>
              <a:rPr lang="en-US" altLang="ko-KR" dirty="0"/>
              <a:t>LCA</a:t>
            </a:r>
            <a:r>
              <a:rPr lang="ko-KR" altLang="en-US" dirty="0"/>
              <a:t>와 두 정점 사이의 경로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183751-0001-CF02-DAAB-D80D368E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 ~ V </a:t>
            </a:r>
            <a:r>
              <a:rPr lang="ko-KR" altLang="en-US" dirty="0"/>
              <a:t>사이의 경로와 </a:t>
            </a:r>
            <a:r>
              <a:rPr lang="en-US" altLang="ko-KR" dirty="0"/>
              <a:t>LCA</a:t>
            </a:r>
            <a:r>
              <a:rPr lang="ko-KR" altLang="en-US" dirty="0"/>
              <a:t>의 관계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트리에서 두 정점 사이의 경로는 유일하고</a:t>
            </a:r>
            <a:r>
              <a:rPr lang="en-US" altLang="ko-KR" dirty="0"/>
              <a:t>, </a:t>
            </a:r>
            <a:r>
              <a:rPr lang="ko-KR" altLang="en-US" dirty="0"/>
              <a:t>이는</a:t>
            </a:r>
            <a:endParaRPr lang="en-US" altLang="ko-KR" dirty="0"/>
          </a:p>
          <a:p>
            <a:r>
              <a:rPr lang="en-US" altLang="ko-KR" dirty="0"/>
              <a:t>U ~ LCA(U, V) ~ V.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이런 특성 때문에</a:t>
            </a:r>
            <a:r>
              <a:rPr lang="en-US" altLang="ko-KR" dirty="0"/>
              <a:t>, </a:t>
            </a:r>
            <a:r>
              <a:rPr lang="ko-KR" altLang="en-US" dirty="0"/>
              <a:t>나중에 트리 관련 고난도 알고리즘을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공부할 때도</a:t>
            </a:r>
            <a:r>
              <a:rPr lang="en-US" altLang="ko-KR" dirty="0"/>
              <a:t> LCA</a:t>
            </a:r>
            <a:r>
              <a:rPr lang="ko-KR" altLang="en-US" dirty="0"/>
              <a:t>라는 이름이 꽤 보일 겁니다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96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FE86F-07E9-89B3-F23D-F72DB094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1761: </a:t>
            </a:r>
            <a:r>
              <a:rPr lang="ko-KR" altLang="en-US" dirty="0"/>
              <a:t>정점들의 거리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30B39-79FE-7D48-79A1-E816A28B2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0815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U ~ V </a:t>
            </a:r>
            <a:r>
              <a:rPr lang="ko-KR" altLang="en-US" sz="2400" dirty="0"/>
              <a:t>사이의 거리를 구하는 쿼리</a:t>
            </a:r>
            <a:r>
              <a:rPr lang="en-US" altLang="ko-KR" sz="2400" dirty="0"/>
              <a:t>!</a:t>
            </a:r>
          </a:p>
          <a:p>
            <a:endParaRPr lang="en-US" altLang="ko-KR" sz="2400" dirty="0"/>
          </a:p>
          <a:p>
            <a:r>
              <a:rPr lang="ko-KR" altLang="en-US" sz="2400" dirty="0"/>
              <a:t>희소 배열에 거리 정보도 추가로 담을 수 있을까요</a:t>
            </a:r>
            <a:r>
              <a:rPr lang="en-US" altLang="ko-KR" sz="2400" dirty="0"/>
              <a:t>?</a:t>
            </a:r>
          </a:p>
          <a:p>
            <a:endParaRPr lang="en-US" altLang="ko-KR" sz="2400" dirty="0">
              <a:latin typeface="Consolas" panose="020B0609020204030204" pitchFamily="49" charset="0"/>
            </a:endParaRPr>
          </a:p>
          <a:p>
            <a:r>
              <a:rPr lang="en-US" altLang="ko-KR" sz="2400" dirty="0">
                <a:latin typeface="Consolas" panose="020B0609020204030204" pitchFamily="49" charset="0"/>
              </a:rPr>
              <a:t>pair&lt;int, int&gt;</a:t>
            </a:r>
            <a:r>
              <a:rPr lang="en-US" altLang="ko-KR" sz="2400" dirty="0"/>
              <a:t>. (n</a:t>
            </a:r>
            <a:r>
              <a:rPr lang="ko-KR" altLang="en-US" sz="2400" dirty="0"/>
              <a:t>째 부모</a:t>
            </a:r>
            <a:r>
              <a:rPr lang="en-US" altLang="ko-KR" sz="2400" dirty="0"/>
              <a:t>, n</a:t>
            </a:r>
            <a:r>
              <a:rPr lang="ko-KR" altLang="en-US" sz="2400" dirty="0"/>
              <a:t>째 부모까지 거리 합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en-US" altLang="ko-KR" sz="2400" dirty="0"/>
              <a:t>LCA</a:t>
            </a:r>
            <a:r>
              <a:rPr lang="ko-KR" altLang="en-US" sz="2400" dirty="0"/>
              <a:t>를 구할 때 각각 부모로 올라가는 과정에서</a:t>
            </a:r>
            <a:endParaRPr lang="en-US" altLang="ko-KR" sz="2400" dirty="0"/>
          </a:p>
          <a:p>
            <a:r>
              <a:rPr lang="ko-KR" altLang="en-US" sz="2400" dirty="0"/>
              <a:t>거리도 계속 더해준 뒤</a:t>
            </a:r>
            <a:r>
              <a:rPr lang="en-US" altLang="ko-KR" sz="2400" dirty="0"/>
              <a:t> </a:t>
            </a:r>
            <a:r>
              <a:rPr lang="ko-KR" altLang="en-US" sz="2400" dirty="0"/>
              <a:t>출력하면 됩니다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이는 </a:t>
            </a:r>
            <a:r>
              <a:rPr lang="en-US" altLang="ko-KR" sz="2400" dirty="0"/>
              <a:t>U ~ LCA(U,V) </a:t>
            </a:r>
            <a:r>
              <a:rPr lang="ko-KR" altLang="en-US" sz="2400" dirty="0"/>
              <a:t>거리와 </a:t>
            </a:r>
            <a:r>
              <a:rPr lang="en-US" altLang="ko-KR" sz="2400" dirty="0"/>
              <a:t>V ~ LCA(U,V) </a:t>
            </a:r>
            <a:r>
              <a:rPr lang="ko-KR" altLang="en-US" sz="2400" dirty="0"/>
              <a:t>거리를 합하는 것과 같습니다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172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84039-4FC6-D725-B037-B225ECEA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3176: </a:t>
            </a:r>
            <a:r>
              <a:rPr lang="ko-KR" altLang="en-US" dirty="0"/>
              <a:t>도로</a:t>
            </a:r>
            <a:r>
              <a:rPr lang="en-US" altLang="ko-KR" dirty="0"/>
              <a:t> </a:t>
            </a:r>
            <a:r>
              <a:rPr lang="ko-KR" altLang="en-US" dirty="0"/>
              <a:t>네트워크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47A7FD-E635-2B07-1378-89B8B15F2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이번에는 희소 배열에 거리의 합이 아니라</a:t>
            </a:r>
            <a:endParaRPr lang="en-US" altLang="ko-KR" sz="2400" dirty="0"/>
          </a:p>
          <a:p>
            <a:r>
              <a:rPr lang="ko-KR" altLang="en-US" sz="2400" dirty="0"/>
              <a:t>거리의 최솟값</a:t>
            </a:r>
            <a:r>
              <a:rPr lang="en-US" altLang="ko-KR" sz="2400" dirty="0"/>
              <a:t>, </a:t>
            </a:r>
            <a:r>
              <a:rPr lang="ko-KR" altLang="en-US" sz="2400" dirty="0"/>
              <a:t>최댓값을 추가로 저장하면 됩니다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/>
              <a:t>tuple</a:t>
            </a:r>
            <a:r>
              <a:rPr lang="ko-KR" altLang="en-US" sz="2400" dirty="0"/>
              <a:t>을 사용하든</a:t>
            </a:r>
            <a:r>
              <a:rPr lang="en-US" altLang="ko-KR" sz="2400" dirty="0"/>
              <a:t>, array&lt;int,3&gt;</a:t>
            </a:r>
            <a:r>
              <a:rPr lang="ko-KR" altLang="en-US" sz="2400" dirty="0"/>
              <a:t>을 하든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sp</a:t>
            </a:r>
            <a:r>
              <a:rPr lang="en-US" altLang="ko-KR" sz="2400" dirty="0"/>
              <a:t>[20][100005][3]</a:t>
            </a:r>
            <a:r>
              <a:rPr lang="ko-KR" altLang="en-US" sz="2400" dirty="0"/>
              <a:t>으로 하든 해서</a:t>
            </a:r>
            <a:endParaRPr lang="en-US" altLang="ko-KR" sz="2400" dirty="0"/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부모</a:t>
            </a:r>
            <a:r>
              <a:rPr lang="en-US" altLang="ko-KR" sz="2400" dirty="0"/>
              <a:t>, </a:t>
            </a:r>
            <a:r>
              <a:rPr lang="ko-KR" altLang="en-US" sz="2400" dirty="0"/>
              <a:t>최솟값</a:t>
            </a:r>
            <a:r>
              <a:rPr lang="en-US" altLang="ko-KR" sz="2400" dirty="0"/>
              <a:t>, </a:t>
            </a:r>
            <a:r>
              <a:rPr lang="ko-KR" altLang="en-US" sz="2400" dirty="0"/>
              <a:t>최댓값</a:t>
            </a:r>
            <a:r>
              <a:rPr lang="en-US" altLang="ko-KR" sz="2400" dirty="0"/>
              <a:t>)</a:t>
            </a:r>
            <a:r>
              <a:rPr lang="ko-KR" altLang="en-US" sz="2400" dirty="0"/>
              <a:t>을 저장해두고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도시 쌍마다 </a:t>
            </a:r>
            <a:r>
              <a:rPr lang="en-US" altLang="ko-KR" sz="2400" dirty="0"/>
              <a:t>LCA</a:t>
            </a:r>
            <a:r>
              <a:rPr lang="ko-KR" altLang="en-US" sz="2400" dirty="0"/>
              <a:t>까지 올라가는 과정에서 최소</a:t>
            </a:r>
            <a:r>
              <a:rPr lang="en-US" altLang="ko-KR" sz="2400" dirty="0"/>
              <a:t>/</a:t>
            </a:r>
            <a:r>
              <a:rPr lang="ko-KR" altLang="en-US" sz="2400" dirty="0"/>
              <a:t>최대 답을 갱신해주고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결과를 출력</a:t>
            </a:r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795052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71033-AEAF-7B72-0D8C-6C0E2CBF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4C5E4E-EAF2-460D-F3B6-DC44D6349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434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861</Words>
  <Application>Microsoft Office PowerPoint</Application>
  <PresentationFormat>와이드스크린</PresentationFormat>
  <Paragraphs>173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테마</vt:lpstr>
      <vt:lpstr>희소 배열, LCA</vt:lpstr>
      <vt:lpstr>LCA (Lowest Common Ancestor)</vt:lpstr>
      <vt:lpstr>BOJ 3584: 가장 가까운 공통 조상</vt:lpstr>
      <vt:lpstr>BOJ 11438: LCA 2</vt:lpstr>
      <vt:lpstr>BOJ 17435: 합성함수와 쿼리 </vt:lpstr>
      <vt:lpstr>빠르게 구할 방법?</vt:lpstr>
      <vt:lpstr>희소 배열 (Sparse Table)</vt:lpstr>
      <vt:lpstr>희소 배열</vt:lpstr>
      <vt:lpstr>희소 배열</vt:lpstr>
      <vt:lpstr>다시 BOJ 11438: LCA 2</vt:lpstr>
      <vt:lpstr>BOJ 11438: LCA 2</vt:lpstr>
      <vt:lpstr>트리의 LCA와 두 정점 사이의 경로</vt:lpstr>
      <vt:lpstr>BOJ 1761: 정점들의 거리</vt:lpstr>
      <vt:lpstr>BOJ 3176: 도로 네트워크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김범수</dc:creator>
  <cp:lastModifiedBy>전상현</cp:lastModifiedBy>
  <cp:revision>37</cp:revision>
  <dcterms:created xsi:type="dcterms:W3CDTF">2025-09-09T00:29:05Z</dcterms:created>
  <dcterms:modified xsi:type="dcterms:W3CDTF">2025-11-11T14:24:43Z</dcterms:modified>
</cp:coreProperties>
</file>