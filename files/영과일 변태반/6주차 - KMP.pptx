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8" r:id="rId4"/>
    <p:sldId id="267" r:id="rId5"/>
    <p:sldId id="268" r:id="rId6"/>
    <p:sldId id="257" r:id="rId7"/>
    <p:sldId id="262" r:id="rId8"/>
    <p:sldId id="261" r:id="rId9"/>
    <p:sldId id="263" r:id="rId10"/>
    <p:sldId id="271" r:id="rId11"/>
    <p:sldId id="273" r:id="rId12"/>
    <p:sldId id="27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BCE9D-AD8B-4C38-A1E7-052DF2EF8FA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3E866-8715-4AA2-B851-CA622A3FC6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910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3E866-8715-4AA2-B851-CA622A3FC67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034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3ABFD-9C8B-BC3B-7714-87A21C4D7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05D3915-9B9B-1196-A4C0-7BB6C7E12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FF8B8E-EBBC-F88D-111E-789AD3AD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06F699-5946-1565-8C60-BA6189E5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E247E0-7C45-5558-6DCC-06EE06D0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2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54FDE-EA8F-966D-2D95-8C94B55D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89CB3B-A8DC-F74E-9E71-906DE6AA4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29893-8FFC-0C14-03F4-E34271D7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2DF368-D23F-9DFA-47CE-F549BC62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F7C55-79DD-0263-72D7-D7151725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47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78CC6-F126-E4E8-7539-BB0053F5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4FE74B-84CB-D808-9272-EF254C5D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AF66A-7C47-C452-3037-F2D7F6F84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26B03-5331-7B04-C33C-249E201B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0368EA-7DF5-3EB1-ADF3-874879D3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904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DB71C-8D8E-DB40-7275-8F4837AEA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7F939F-FB9D-F524-ECD1-A228842EA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8A1C0E-1B1B-7B28-349E-3A7EFA1E8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78C07C-EC29-AE1C-D1B2-88D3A8421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5A176-7921-BCF8-CF2B-095C4F6A7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9106DB-D456-2211-0B4B-398A1788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880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B0A73A-6856-524E-969B-614C5E38A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A074DB-5618-9F5A-E130-ABC2DCA85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7DB89EC-E270-8B14-7DD1-72D07AC3CA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8879DE-3D6C-F47C-A4BB-EEB57F41F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8F04D1-BA57-8604-C48F-C4E61D77E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C2D5F6-562C-A401-256F-614B5586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6EB2808-89C1-3C83-284D-93ED08CB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9180B1-EEFE-5DF4-F8F5-C57C365B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6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3EC53-61F6-0F45-D0A3-CDE3BDBA1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AA81AC-C2DB-F90B-D003-17694046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68FF2F-179D-7F3C-548A-02F6ED38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01FF75-47BF-3183-F08E-FCBB65947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03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4590D1-C53B-08F3-28FC-96CD0872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37D8E6-353A-3C5D-234D-7AB99CCA4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58594-3C92-FDF8-6305-FC5ADCF2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81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B2AD1-55A0-48EC-78DC-BDC05F81E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57A93-32FE-0863-319D-B06F95259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9BB6F6-A12C-0FD0-8EB8-667EA60B72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1A9D5F-C0CF-3395-2C38-E78EDEA0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B45A6F-4D1F-B89E-82C2-D24B4D94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C35060-03CA-909B-768E-37BF8AC6C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67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8D84D-D6DF-E2F8-C87E-4B24C2D4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8EC1918-EA44-82B9-3FB8-C87C93070C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6496C2-F224-E621-07F3-2B7C4F3349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259AE6-6E36-B612-F31D-6D045EA1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D005F2-94E1-E584-5C6C-01CA7A4D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1EB516-CFB8-FE02-EA94-F59826AF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94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22EAA-0B7A-B322-95EF-F63383B01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03850E-35E6-818C-AEB7-645B25D2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54831-DCF9-8154-22B4-C700B676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F7D9C3-8109-8BD8-B6F2-C7291154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BBB04E-52EF-6774-94B6-570D9197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39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883C28-ADA5-5C3A-EC27-B680ED9E1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CA489D-F8BF-36BF-8A18-00A42CD99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526BAA-989C-FAE1-18D0-3D3214A56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DBE8C-EABA-D86D-DDCB-AF8DBDC1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D1A38-53B6-5E34-AB16-2CE2393A3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37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5AA5E5-BC3B-0670-A19E-5370E47D9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C97026-B898-CF64-EA1A-C0E47CD57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B79D0-C776-5896-AB43-74522FFE0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C3C01-DAC6-4B7C-96FD-EAACD0037A3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55FEE-93C6-3A7B-327A-BED83FA7C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3BBB5-836B-59A3-005F-5E46B5556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09AF3-0C5F-4947-A118-A624751688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21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A9B71-93B2-9A06-4413-525C3A178B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KMP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DDEE006-4438-24CA-CDF4-53CB31CAC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0&amp;1 </a:t>
            </a:r>
            <a:r>
              <a:rPr lang="ko-KR" altLang="en-US" dirty="0"/>
              <a:t>스터디 </a:t>
            </a:r>
            <a:r>
              <a:rPr lang="en-US" altLang="ko-KR" dirty="0"/>
              <a:t>6</a:t>
            </a:r>
            <a:r>
              <a:rPr lang="ko-KR" altLang="en-US" dirty="0"/>
              <a:t>주차</a:t>
            </a:r>
            <a:endParaRPr lang="en-US" altLang="ko-KR" dirty="0"/>
          </a:p>
          <a:p>
            <a:r>
              <a:rPr lang="ko-KR" altLang="en-US" dirty="0"/>
              <a:t>김범수</a:t>
            </a:r>
          </a:p>
        </p:txBody>
      </p:sp>
    </p:spTree>
    <p:extLst>
      <p:ext uri="{BB962C8B-B14F-4D97-AF65-F5344CB8AC3E}">
        <p14:creationId xmlns:p14="http://schemas.microsoft.com/office/powerpoint/2010/main" val="2901622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FB6CB-8163-6A0E-76FD-E5D4001C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문자열에서 패턴 등장 위치 찾기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EA2DCE-C88E-DFF0-393F-2DC4D3DCE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1214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길이 </a:t>
            </a:r>
            <a:r>
              <a:rPr lang="en-US" altLang="ko-KR" sz="2400" dirty="0"/>
              <a:t>N</a:t>
            </a:r>
            <a:r>
              <a:rPr lang="ko-KR" altLang="en-US" sz="2400" dirty="0"/>
              <a:t>인 문자열 </a:t>
            </a:r>
            <a:r>
              <a:rPr lang="en-US" altLang="ko-KR" sz="2400" dirty="0"/>
              <a:t>S</a:t>
            </a:r>
            <a:r>
              <a:rPr lang="ko-KR" altLang="en-US" sz="2400" dirty="0"/>
              <a:t>에서 길이 </a:t>
            </a:r>
            <a:r>
              <a:rPr lang="en-US" altLang="ko-KR" sz="2400" dirty="0"/>
              <a:t>M</a:t>
            </a:r>
            <a:r>
              <a:rPr lang="ko-KR" altLang="en-US" sz="2400" dirty="0"/>
              <a:t>인 패턴 </a:t>
            </a:r>
            <a:r>
              <a:rPr lang="en-US" altLang="ko-KR" sz="2400" dirty="0"/>
              <a:t>P</a:t>
            </a:r>
            <a:r>
              <a:rPr lang="ko-KR" altLang="en-US" sz="2400" dirty="0"/>
              <a:t>가 나오는 위치 찾기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간단한 방법을 생각하면</a:t>
            </a:r>
            <a:r>
              <a:rPr lang="en-US" altLang="ko-KR" sz="2400" dirty="0"/>
              <a:t>, </a:t>
            </a:r>
            <a:r>
              <a:rPr lang="ko-KR" altLang="en-US" sz="2400" dirty="0"/>
              <a:t>그냥 </a:t>
            </a:r>
            <a:r>
              <a:rPr lang="en-US" altLang="ko-KR" sz="2400" dirty="0"/>
              <a:t>2</a:t>
            </a:r>
            <a:r>
              <a:rPr lang="ko-KR" altLang="en-US" sz="2400" dirty="0"/>
              <a:t>중 </a:t>
            </a:r>
            <a:r>
              <a:rPr lang="en-US" altLang="ko-KR" sz="2400" dirty="0"/>
              <a:t>for</a:t>
            </a:r>
            <a:r>
              <a:rPr lang="ko-KR" altLang="en-US" sz="2400" dirty="0"/>
              <a:t>문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FOR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 = 0..N-1 do</a:t>
            </a:r>
          </a:p>
          <a:p>
            <a:pPr marL="0" indent="0">
              <a:buNone/>
            </a:pPr>
            <a:r>
              <a:rPr lang="en-US" altLang="ko-KR" sz="2400" dirty="0"/>
              <a:t>    FOR j = 0..M-1 do</a:t>
            </a:r>
          </a:p>
          <a:p>
            <a:pPr marL="0" indent="0">
              <a:buNone/>
            </a:pPr>
            <a:r>
              <a:rPr lang="en-US" altLang="ko-KR" sz="2400" dirty="0"/>
              <a:t>        S[</a:t>
            </a:r>
            <a:r>
              <a:rPr lang="en-US" altLang="ko-KR" sz="2400" dirty="0" err="1"/>
              <a:t>i+j</a:t>
            </a:r>
            <a:r>
              <a:rPr lang="en-US" altLang="ko-KR" sz="2400" dirty="0"/>
              <a:t>] == P[j] </a:t>
            </a:r>
            <a:r>
              <a:rPr lang="ko-KR" altLang="en-US" sz="2400" dirty="0"/>
              <a:t>체크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시간 복잡도는 </a:t>
            </a:r>
            <a:r>
              <a:rPr lang="en-US" altLang="ko-KR" sz="2400" dirty="0"/>
              <a:t>O(NM),</a:t>
            </a:r>
            <a:r>
              <a:rPr lang="ko-KR" altLang="en-US" sz="2400" dirty="0"/>
              <a:t> 당연하게도 </a:t>
            </a:r>
            <a:r>
              <a:rPr lang="en-US" altLang="ko-KR" sz="2400" dirty="0"/>
              <a:t>S</a:t>
            </a:r>
            <a:r>
              <a:rPr lang="ko-KR" altLang="en-US" sz="2400" dirty="0"/>
              <a:t>와 </a:t>
            </a:r>
            <a:r>
              <a:rPr lang="en-US" altLang="ko-KR" sz="2400" dirty="0"/>
              <a:t>P</a:t>
            </a:r>
            <a:r>
              <a:rPr lang="ko-KR" altLang="en-US" sz="2400" dirty="0"/>
              <a:t>가 길어지면 시간 초과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004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07A28-1034-E7ED-EC9A-46BBB650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Knuth-Morris-Pratt(KMP) 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A4F697-8445-C096-2BDC-569F639B8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1317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문자열 매칭 문제를 더 효율적으로 풀기 위해 고안된 알고리즘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앞의 </a:t>
            </a:r>
            <a:r>
              <a:rPr lang="ko-KR" altLang="en-US" sz="2400" dirty="0" err="1"/>
              <a:t>브루트포스</a:t>
            </a:r>
            <a:r>
              <a:rPr lang="ko-KR" altLang="en-US" sz="2400" dirty="0"/>
              <a:t> 방법은</a:t>
            </a:r>
            <a:r>
              <a:rPr lang="en-US" altLang="ko-KR" sz="2400" dirty="0"/>
              <a:t>,</a:t>
            </a:r>
          </a:p>
          <a:p>
            <a:r>
              <a:rPr lang="ko-KR" altLang="en-US" sz="2400" dirty="0"/>
              <a:t>이전 반복에서 같은 글자에 대한 정보를 일부분 알아내도</a:t>
            </a:r>
            <a:r>
              <a:rPr lang="en-US" altLang="ko-KR" sz="2400" dirty="0"/>
              <a:t>,</a:t>
            </a:r>
          </a:p>
          <a:p>
            <a:r>
              <a:rPr lang="ko-KR" altLang="en-US" sz="2400" dirty="0"/>
              <a:t>다음 반복에서는 이 정보를 전혀 재활용하지 못하고 </a:t>
            </a:r>
            <a:r>
              <a:rPr lang="ko-KR" altLang="en-US" sz="2400" dirty="0" err="1"/>
              <a:t>일일히</a:t>
            </a:r>
            <a:r>
              <a:rPr lang="ko-KR" altLang="en-US" sz="2400" dirty="0"/>
              <a:t> 다시 탐색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endParaRPr lang="en-US" altLang="ko-KR" sz="1600" dirty="0"/>
          </a:p>
          <a:p>
            <a:r>
              <a:rPr lang="en-US" altLang="ko-KR" sz="2400" dirty="0"/>
              <a:t>KMP </a:t>
            </a:r>
            <a:r>
              <a:rPr lang="ko-KR" altLang="en-US" sz="2400" dirty="0"/>
              <a:t>알고리즘은</a:t>
            </a:r>
            <a:r>
              <a:rPr lang="en-US" altLang="ko-KR" sz="2400" dirty="0"/>
              <a:t>,</a:t>
            </a:r>
          </a:p>
          <a:p>
            <a:r>
              <a:rPr lang="ko-KR" altLang="en-US" sz="2400" dirty="0"/>
              <a:t>일부분은 같았던 정보를 최대한으로 이용해서 </a:t>
            </a:r>
            <a:r>
              <a:rPr lang="ko-KR" altLang="en-US" sz="2400" dirty="0" err="1"/>
              <a:t>스킵할</a:t>
            </a:r>
            <a:r>
              <a:rPr lang="en-US" altLang="ko-KR" sz="2400" dirty="0"/>
              <a:t> </a:t>
            </a:r>
            <a:r>
              <a:rPr lang="ko-KR" altLang="en-US" sz="2400" dirty="0"/>
              <a:t>부분은 </a:t>
            </a:r>
            <a:r>
              <a:rPr lang="ko-KR" altLang="en-US" sz="2400" dirty="0" err="1"/>
              <a:t>스킵하며</a:t>
            </a:r>
            <a:endParaRPr lang="en-US" altLang="ko-KR" sz="2400" dirty="0"/>
          </a:p>
          <a:p>
            <a:r>
              <a:rPr lang="ko-KR" altLang="en-US" sz="2400" dirty="0"/>
              <a:t>무려 </a:t>
            </a:r>
            <a:r>
              <a:rPr lang="en-US" altLang="ko-KR" sz="2400" dirty="0"/>
              <a:t>O(N+M)</a:t>
            </a:r>
            <a:r>
              <a:rPr lang="ko-KR" altLang="en-US" sz="2400" dirty="0"/>
              <a:t>의 시간 복잡도로 앞의 문제를 풀 수 있게 된다</a:t>
            </a:r>
            <a:r>
              <a:rPr lang="en-US" altLang="ko-KR" sz="2400" dirty="0"/>
              <a:t>.</a:t>
            </a:r>
          </a:p>
          <a:p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313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55762-ECF6-834D-7F67-D37D7DA0E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아이디어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891294E-D8B6-3C93-5FC4-DBEAD3C41A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2345356"/>
              </p:ext>
            </p:extLst>
          </p:nvPr>
        </p:nvGraphicFramePr>
        <p:xfrm>
          <a:off x="838200" y="1629243"/>
          <a:ext cx="10337130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142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37115037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644364580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66584547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97557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51598515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4469566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6525096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82581498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  <a:endParaRPr lang="ko-KR" altLang="en-US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3076EAA9-5792-D759-46AE-193331A6E4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640476"/>
              </p:ext>
            </p:extLst>
          </p:nvPr>
        </p:nvGraphicFramePr>
        <p:xfrm>
          <a:off x="838200" y="2278222"/>
          <a:ext cx="4823623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089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291CD3DA-3676-A833-082B-270C2EC9AA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8499400"/>
              </p:ext>
            </p:extLst>
          </p:nvPr>
        </p:nvGraphicFramePr>
        <p:xfrm>
          <a:off x="838200" y="3364369"/>
          <a:ext cx="10337130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142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37115037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644364580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66584547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97557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51598515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4469566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6525096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82581498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97D72DA2-8F4E-E0F7-492D-37C2DF5311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1472208"/>
              </p:ext>
            </p:extLst>
          </p:nvPr>
        </p:nvGraphicFramePr>
        <p:xfrm>
          <a:off x="1531671" y="4013348"/>
          <a:ext cx="4823623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089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556396D7-367F-857C-ABA1-88701B2B8E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4477484"/>
              </p:ext>
            </p:extLst>
          </p:nvPr>
        </p:nvGraphicFramePr>
        <p:xfrm>
          <a:off x="838200" y="5328078"/>
          <a:ext cx="10337130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142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37115037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644364580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66584547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97557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51598515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4469566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6525096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82581498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0A8B8287-038D-99D8-3895-3B4B85D205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244434"/>
              </p:ext>
            </p:extLst>
          </p:nvPr>
        </p:nvGraphicFramePr>
        <p:xfrm>
          <a:off x="2906340" y="5977057"/>
          <a:ext cx="4823623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089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sp>
        <p:nvSpPr>
          <p:cNvPr id="10" name="곱하기 기호 9">
            <a:extLst>
              <a:ext uri="{FF2B5EF4-FFF2-40B4-BE49-F238E27FC236}">
                <a16:creationId xmlns:a16="http://schemas.microsoft.com/office/drawing/2014/main" id="{EA53B60B-9118-CB02-A468-BD8BE9B5A866}"/>
              </a:ext>
            </a:extLst>
          </p:cNvPr>
          <p:cNvSpPr/>
          <p:nvPr/>
        </p:nvSpPr>
        <p:spPr>
          <a:xfrm>
            <a:off x="53953" y="3319706"/>
            <a:ext cx="1258067" cy="1204369"/>
          </a:xfrm>
          <a:prstGeom prst="mathMultiply">
            <a:avLst>
              <a:gd name="adj1" fmla="val 1231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EFB61D1-A56D-5B91-605D-C31AEAFD86BC}"/>
              </a:ext>
            </a:extLst>
          </p:cNvPr>
          <p:cNvCxnSpPr>
            <a:cxnSpLocks/>
          </p:cNvCxnSpPr>
          <p:nvPr/>
        </p:nvCxnSpPr>
        <p:spPr>
          <a:xfrm>
            <a:off x="2899990" y="4876692"/>
            <a:ext cx="0" cy="1596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D17881DD-53D5-BFB9-9CDE-3B92F7259DE4}"/>
              </a:ext>
            </a:extLst>
          </p:cNvPr>
          <p:cNvSpPr/>
          <p:nvPr/>
        </p:nvSpPr>
        <p:spPr>
          <a:xfrm>
            <a:off x="2897873" y="4801018"/>
            <a:ext cx="521638" cy="30681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88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C4847-BC19-B9E5-5CA5-8B47D129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아이디어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C5D466C-40F6-653A-1CD5-B0C4FF6C1A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0156286"/>
              </p:ext>
            </p:extLst>
          </p:nvPr>
        </p:nvGraphicFramePr>
        <p:xfrm>
          <a:off x="838200" y="1690688"/>
          <a:ext cx="10337130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142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37115037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644364580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66584547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97557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51598515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4469566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6525096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82581498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12B876E-F69F-9AE7-1FA1-8C414CE85F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396741"/>
              </p:ext>
            </p:extLst>
          </p:nvPr>
        </p:nvGraphicFramePr>
        <p:xfrm>
          <a:off x="2906340" y="2339667"/>
          <a:ext cx="4823623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089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97ADDE42-DD0B-6BB6-0DE6-D91870D275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9909564"/>
              </p:ext>
            </p:extLst>
          </p:nvPr>
        </p:nvGraphicFramePr>
        <p:xfrm>
          <a:off x="838200" y="3510379"/>
          <a:ext cx="10337130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142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37115037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644364580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66584547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97557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51598515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4469566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6525096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82581498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7" name="내용 개체 틀 3">
            <a:extLst>
              <a:ext uri="{FF2B5EF4-FFF2-40B4-BE49-F238E27FC236}">
                <a16:creationId xmlns:a16="http://schemas.microsoft.com/office/drawing/2014/main" id="{BEBE2B47-19DC-11B0-CA2C-5855C5122D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707124"/>
              </p:ext>
            </p:extLst>
          </p:nvPr>
        </p:nvGraphicFramePr>
        <p:xfrm>
          <a:off x="5661814" y="4245732"/>
          <a:ext cx="4823623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089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A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B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B05E6EF-2FA0-B36B-0878-4514F3CBBDC9}"/>
              </a:ext>
            </a:extLst>
          </p:cNvPr>
          <p:cNvCxnSpPr>
            <a:cxnSpLocks/>
          </p:cNvCxnSpPr>
          <p:nvPr/>
        </p:nvCxnSpPr>
        <p:spPr>
          <a:xfrm>
            <a:off x="7034806" y="3143250"/>
            <a:ext cx="0" cy="15966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5A7793E-FB7F-5EB2-DEEE-63A739E13086}"/>
              </a:ext>
            </a:extLst>
          </p:cNvPr>
          <p:cNvSpPr/>
          <p:nvPr/>
        </p:nvSpPr>
        <p:spPr>
          <a:xfrm>
            <a:off x="7032689" y="3067576"/>
            <a:ext cx="521638" cy="30681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2" name="내용 개체 틀 3">
            <a:extLst>
              <a:ext uri="{FF2B5EF4-FFF2-40B4-BE49-F238E27FC236}">
                <a16:creationId xmlns:a16="http://schemas.microsoft.com/office/drawing/2014/main" id="{5AC138B9-0BB9-8790-75D8-83F12BE297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0684949"/>
              </p:ext>
            </p:extLst>
          </p:nvPr>
        </p:nvGraphicFramePr>
        <p:xfrm>
          <a:off x="838200" y="5263394"/>
          <a:ext cx="10337130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142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37115037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644364580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665845472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7975571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515985159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944695661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2652509658"/>
                    </a:ext>
                  </a:extLst>
                </a:gridCol>
                <a:gridCol w="689142">
                  <a:extLst>
                    <a:ext uri="{9D8B030D-6E8A-4147-A177-3AD203B41FA5}">
                      <a16:colId xmlns:a16="http://schemas.microsoft.com/office/drawing/2014/main" val="382581498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  <p:graphicFrame>
        <p:nvGraphicFramePr>
          <p:cNvPr id="23" name="내용 개체 틀 3">
            <a:extLst>
              <a:ext uri="{FF2B5EF4-FFF2-40B4-BE49-F238E27FC236}">
                <a16:creationId xmlns:a16="http://schemas.microsoft.com/office/drawing/2014/main" id="{15FC693E-E15A-1289-85E1-E827CFFF90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2667035"/>
              </p:ext>
            </p:extLst>
          </p:nvPr>
        </p:nvGraphicFramePr>
        <p:xfrm>
          <a:off x="5661814" y="5998747"/>
          <a:ext cx="4823623" cy="494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9089">
                  <a:extLst>
                    <a:ext uri="{9D8B030D-6E8A-4147-A177-3AD203B41FA5}">
                      <a16:colId xmlns:a16="http://schemas.microsoft.com/office/drawing/2014/main" val="2402925058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611189703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1468731702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23005531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477076931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3751578779"/>
                    </a:ext>
                  </a:extLst>
                </a:gridCol>
                <a:gridCol w="689089">
                  <a:extLst>
                    <a:ext uri="{9D8B030D-6E8A-4147-A177-3AD203B41FA5}">
                      <a16:colId xmlns:a16="http://schemas.microsoft.com/office/drawing/2014/main" val="2898778675"/>
                    </a:ext>
                  </a:extLst>
                </a:gridCol>
              </a:tblGrid>
              <a:tr h="4941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A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B</a:t>
                      </a:r>
                      <a:endParaRPr lang="ko-KR" altLang="en-US" b="0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50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374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3CC8B6-6961-362C-ACDC-6300BEB45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실패함수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CC9374-2C0F-D320-A45F-64778F158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한 자리씩 비교하다가 매칭에 실패했을 때</a:t>
            </a:r>
            <a:r>
              <a:rPr lang="en-US" altLang="ko-KR" dirty="0"/>
              <a:t> </a:t>
            </a:r>
            <a:r>
              <a:rPr lang="ko-KR" altLang="en-US" dirty="0"/>
              <a:t>참고할 녀석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π(</a:t>
            </a:r>
            <a:r>
              <a:rPr lang="en-US" altLang="ko-KR" dirty="0" err="1"/>
              <a:t>i</a:t>
            </a:r>
            <a:r>
              <a:rPr lang="en-US" altLang="ko-KR" dirty="0"/>
              <a:t>) = P[..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  <a:r>
              <a:rPr lang="ko-KR" altLang="en-US" dirty="0"/>
              <a:t>에서 접두사와 접미사가 일치하는 최대 길이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800" dirty="0"/>
              <a:t>					(</a:t>
            </a:r>
            <a:r>
              <a:rPr lang="ko-KR" altLang="en-US" sz="1800" dirty="0"/>
              <a:t>단</a:t>
            </a:r>
            <a:r>
              <a:rPr lang="en-US" altLang="ko-KR" sz="1800" dirty="0"/>
              <a:t>, P[..</a:t>
            </a:r>
            <a:r>
              <a:rPr lang="en-US" altLang="ko-KR" sz="1800" dirty="0" err="1"/>
              <a:t>i</a:t>
            </a:r>
            <a:r>
              <a:rPr lang="en-US" altLang="ko-KR" sz="1800" dirty="0"/>
              <a:t>]</a:t>
            </a:r>
            <a:r>
              <a:rPr lang="ko-KR" altLang="en-US" sz="1800" dirty="0"/>
              <a:t> 전체 </a:t>
            </a:r>
            <a:r>
              <a:rPr lang="en-US" altLang="ko-KR" sz="1800" dirty="0"/>
              <a:t>= </a:t>
            </a:r>
            <a:r>
              <a:rPr lang="ko-KR" altLang="en-US" sz="1800" dirty="0"/>
              <a:t>접두사 </a:t>
            </a:r>
            <a:r>
              <a:rPr lang="en-US" altLang="ko-KR" sz="1800" dirty="0"/>
              <a:t>= </a:t>
            </a:r>
            <a:r>
              <a:rPr lang="ko-KR" altLang="en-US" sz="1800" dirty="0"/>
              <a:t>접미사로 같은 경우는 제외</a:t>
            </a:r>
            <a:r>
              <a:rPr lang="en-US" altLang="ko-KR" sz="1800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ex) π(6) = ABCDAB -&gt; </a:t>
            </a:r>
            <a:r>
              <a:rPr lang="en-US" altLang="ko-KR" b="1" dirty="0"/>
              <a:t>AB</a:t>
            </a:r>
            <a:r>
              <a:rPr lang="en-US" altLang="ko-KR" dirty="0"/>
              <a:t>CD</a:t>
            </a:r>
            <a:r>
              <a:rPr lang="en-US" altLang="ko-KR" b="1" dirty="0"/>
              <a:t>AB</a:t>
            </a:r>
            <a:r>
              <a:rPr lang="en-US" altLang="ko-KR" dirty="0"/>
              <a:t> -&gt;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0919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48D18A-0AE1-D995-DE52-D68365507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KMP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7D8DA5-DEB8-F600-A3C6-94ADC5292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80" y="1385358"/>
            <a:ext cx="5086219" cy="53694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/>
              <a:t>(</a:t>
            </a:r>
            <a:r>
              <a:rPr lang="ko-KR" altLang="en-US" sz="2000" dirty="0"/>
              <a:t>실패함수가 이미 주어졌다고 가정하고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ko-KR" altLang="en-US" sz="2400" dirty="0"/>
              <a:t>일치하지 않으면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while</a:t>
            </a:r>
            <a:r>
              <a:rPr lang="ko-KR" altLang="en-US" sz="2400" dirty="0"/>
              <a:t>문에서 </a:t>
            </a:r>
            <a:r>
              <a:rPr lang="en-US" altLang="ko-KR" sz="2400" dirty="0"/>
              <a:t>pi[j-1]</a:t>
            </a:r>
            <a:r>
              <a:rPr lang="ko-KR" altLang="en-US" sz="2400" dirty="0"/>
              <a:t>을 이용해 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계속 점프하여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현재 </a:t>
            </a:r>
            <a:r>
              <a:rPr lang="en-US" altLang="ko-KR" sz="2400" dirty="0"/>
              <a:t>S[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와 어떤 </a:t>
            </a:r>
            <a:r>
              <a:rPr lang="en-US" altLang="ko-KR" sz="2400" dirty="0"/>
              <a:t>P[j]</a:t>
            </a:r>
            <a:r>
              <a:rPr lang="ko-KR" altLang="en-US" sz="2400" dirty="0"/>
              <a:t>부터 비교를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시작해야 할 지 구하기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비교해서 완전 일치면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결과에 추가하고</a:t>
            </a:r>
            <a:r>
              <a:rPr lang="en-US" altLang="ko-KR" sz="2400" dirty="0"/>
              <a:t> </a:t>
            </a:r>
            <a:r>
              <a:rPr lang="ko-KR" altLang="en-US" sz="2400" dirty="0"/>
              <a:t>다음 위치 찾기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도중이면 평범하게 </a:t>
            </a:r>
            <a:r>
              <a:rPr lang="en-US" altLang="ko-KR" sz="2400" dirty="0"/>
              <a:t>j </a:t>
            </a:r>
            <a:r>
              <a:rPr lang="ko-KR" altLang="en-US" sz="2400" dirty="0"/>
              <a:t>증가시켜서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그냥 비교 이어가기</a:t>
            </a:r>
            <a:r>
              <a:rPr lang="en-US" altLang="ko-KR" sz="24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B9AC1B-C539-1BEB-431F-AA8F75E8A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819" y="1909764"/>
            <a:ext cx="6030801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7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C8E03-A1D5-AEC5-435E-CBD213B67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실패함수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03256-B764-B903-FFA3-B5B0CA32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실패함수를 구하는 게 오래 걸린다면 </a:t>
            </a:r>
            <a:r>
              <a:rPr lang="en-US" altLang="ko-KR" sz="2400" dirty="0"/>
              <a:t>KMP</a:t>
            </a:r>
            <a:r>
              <a:rPr lang="ko-KR" altLang="en-US" sz="2400" dirty="0"/>
              <a:t>까지 가기도 전에 무용지물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실패함수 자체를 구할 때에도 </a:t>
            </a:r>
            <a:r>
              <a:rPr lang="en-US" altLang="ko-KR" sz="2400" dirty="0"/>
              <a:t>KMP</a:t>
            </a:r>
            <a:r>
              <a:rPr lang="ko-KR" altLang="en-US" sz="2400" dirty="0"/>
              <a:t>의 원리</a:t>
            </a:r>
            <a:r>
              <a:rPr lang="en-US" altLang="ko-KR" sz="2400" dirty="0"/>
              <a:t>(</a:t>
            </a:r>
            <a:r>
              <a:rPr lang="ko-KR" altLang="en-US" sz="2400" dirty="0"/>
              <a:t>점프</a:t>
            </a:r>
            <a:r>
              <a:rPr lang="en-US" altLang="ko-KR" sz="2400" dirty="0"/>
              <a:t>)</a:t>
            </a:r>
            <a:r>
              <a:rPr lang="ko-KR" altLang="en-US" sz="2400" dirty="0"/>
              <a:t>를 사용할 수 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64A417-3539-8CEB-31A7-593EF4541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792" y="2871201"/>
            <a:ext cx="6102415" cy="362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64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5BB1A-41CB-88F5-754E-A3285733D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1786 - </a:t>
            </a:r>
            <a:r>
              <a:rPr lang="ko-KR" altLang="en-US" dirty="0"/>
              <a:t>찾기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73DE9-1EC1-7CA5-E74E-FFF11939D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앞에 나온 대로 </a:t>
            </a:r>
            <a:r>
              <a:rPr lang="en-US" altLang="ko-KR" dirty="0"/>
              <a:t>KMP</a:t>
            </a:r>
            <a:r>
              <a:rPr lang="ko-KR" altLang="en-US" dirty="0"/>
              <a:t>를 잘 구현하면 되는 문제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ko-KR" altLang="en-US" dirty="0"/>
              <a:t>지문에서 설명하는 방법도 읽어보면 </a:t>
            </a:r>
            <a:r>
              <a:rPr lang="en-US" altLang="ko-KR" dirty="0"/>
              <a:t>KMP</a:t>
            </a:r>
            <a:r>
              <a:rPr lang="ko-KR" altLang="en-US" dirty="0"/>
              <a:t>임을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0150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BDB7C0-7EB2-B8A8-9FC2-C4D13537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1305: </a:t>
            </a:r>
            <a:r>
              <a:rPr lang="ko-KR" altLang="en-US" dirty="0"/>
              <a:t>광고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BDAEBC-B623-6D9F-D81B-DA5A6A9A5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실패함수를 응용하는 문제</a:t>
            </a:r>
            <a:r>
              <a:rPr lang="en-US" altLang="ko-KR" sz="2400" dirty="0"/>
              <a:t>. π(</a:t>
            </a:r>
            <a:r>
              <a:rPr lang="en-US" altLang="ko-KR" sz="2400" dirty="0" err="1"/>
              <a:t>i</a:t>
            </a:r>
            <a:r>
              <a:rPr lang="en-US" altLang="ko-KR" sz="2400" dirty="0"/>
              <a:t>) = P[..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에서 가장 긴 </a:t>
            </a:r>
            <a:r>
              <a:rPr lang="en-US" altLang="ko-KR" sz="2400" dirty="0"/>
              <a:t>(</a:t>
            </a:r>
            <a:r>
              <a:rPr lang="ko-KR" altLang="en-US" sz="2400" dirty="0"/>
              <a:t>접미사 </a:t>
            </a:r>
            <a:r>
              <a:rPr lang="en-US" altLang="ko-KR" sz="2400" dirty="0"/>
              <a:t>== </a:t>
            </a:r>
            <a:r>
              <a:rPr lang="ko-KR" altLang="en-US" sz="2400" dirty="0"/>
              <a:t>접두사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r>
              <a:rPr lang="ko-KR" altLang="en-US" sz="2400" dirty="0"/>
              <a:t>전광판 일부분을 보고 반복되고 있을 원본 문자열 중 가장 짧은 것 구하기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en-US" altLang="ko-KR" sz="2400" b="1" u="sng" dirty="0" err="1"/>
              <a:t>ab</a:t>
            </a:r>
            <a:r>
              <a:rPr lang="en-US" altLang="ko-KR" sz="2400" dirty="0" err="1"/>
              <a:t>cdab</a:t>
            </a:r>
            <a:r>
              <a:rPr lang="en-US" altLang="ko-KR" sz="2400" dirty="0"/>
              <a:t> -&gt; π(n) = 2, “</a:t>
            </a:r>
            <a:r>
              <a:rPr lang="en-US" altLang="ko-KR" sz="2400" dirty="0" err="1"/>
              <a:t>abcd</a:t>
            </a:r>
            <a:r>
              <a:rPr lang="en-US" altLang="ko-KR" sz="2400" dirty="0"/>
              <a:t>”</a:t>
            </a:r>
            <a:r>
              <a:rPr lang="ko-KR" altLang="en-US" sz="2400" dirty="0"/>
              <a:t>가</a:t>
            </a:r>
            <a:r>
              <a:rPr lang="en-US" altLang="ko-KR" sz="2400" dirty="0"/>
              <a:t> </a:t>
            </a:r>
            <a:r>
              <a:rPr lang="ko-KR" altLang="en-US" sz="2400" dirty="0"/>
              <a:t>반복</a:t>
            </a:r>
            <a:endParaRPr lang="en-US" altLang="ko-KR" sz="2400" dirty="0"/>
          </a:p>
          <a:p>
            <a:r>
              <a:rPr lang="en-US" altLang="ko-KR" sz="2400" b="1" u="sng" dirty="0" err="1"/>
              <a:t>aaaa</a:t>
            </a:r>
            <a:r>
              <a:rPr lang="en-US" altLang="ko-KR" sz="2400" dirty="0" err="1"/>
              <a:t>a</a:t>
            </a:r>
            <a:r>
              <a:rPr lang="en-US" altLang="ko-KR" sz="2400" dirty="0"/>
              <a:t> -&gt; π(n) = 4, “a”</a:t>
            </a:r>
            <a:r>
              <a:rPr lang="ko-KR" altLang="en-US" sz="2400" dirty="0"/>
              <a:t>가 반복</a:t>
            </a:r>
            <a:endParaRPr lang="en-US" altLang="ko-KR" sz="2400" dirty="0"/>
          </a:p>
          <a:p>
            <a:r>
              <a:rPr lang="en-US" altLang="ko-KR" sz="2400" dirty="0" err="1"/>
              <a:t>cabab</a:t>
            </a:r>
            <a:r>
              <a:rPr lang="en-US" altLang="ko-KR" sz="2400" dirty="0"/>
              <a:t> -&gt; π(n) = 0, “</a:t>
            </a:r>
            <a:r>
              <a:rPr lang="en-US" altLang="ko-KR" sz="2400" dirty="0" err="1"/>
              <a:t>cabab</a:t>
            </a:r>
            <a:r>
              <a:rPr lang="en-US" altLang="ko-KR" sz="2400" dirty="0"/>
              <a:t>”</a:t>
            </a:r>
            <a:r>
              <a:rPr lang="ko-KR" altLang="en-US" sz="2400" dirty="0"/>
              <a:t>가 반복</a:t>
            </a:r>
          </a:p>
        </p:txBody>
      </p:sp>
    </p:spTree>
    <p:extLst>
      <p:ext uri="{BB962C8B-B14F-4D97-AF65-F5344CB8AC3E}">
        <p14:creationId xmlns:p14="http://schemas.microsoft.com/office/powerpoint/2010/main" val="1540879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6809D-5BBA-3E87-6E3E-C4F256BED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1701: </a:t>
            </a:r>
            <a:r>
              <a:rPr lang="en-US" altLang="ko-KR" dirty="0" err="1"/>
              <a:t>Cubeditor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7E0A98-7B82-0B43-D0D6-6B00A2426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158"/>
            <a:ext cx="10515600" cy="5083448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다른 방법으로 풀려서 </a:t>
            </a:r>
            <a:r>
              <a:rPr lang="ko-KR" altLang="en-US" sz="2000" dirty="0" err="1"/>
              <a:t>티어가</a:t>
            </a:r>
            <a:r>
              <a:rPr lang="ko-KR" altLang="en-US" sz="2000" dirty="0"/>
              <a:t> 내려치기 되어있지만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KMP(</a:t>
            </a:r>
            <a:r>
              <a:rPr lang="ko-KR" altLang="en-US" sz="2000" dirty="0"/>
              <a:t>라기보단 실패함수</a:t>
            </a:r>
            <a:r>
              <a:rPr lang="en-US" altLang="ko-KR" sz="2000" dirty="0"/>
              <a:t>)</a:t>
            </a:r>
            <a:r>
              <a:rPr lang="ko-KR" altLang="en-US" sz="2000" dirty="0"/>
              <a:t>로 풀어보면 좋은 문제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r>
              <a:rPr lang="en-US" altLang="ko-KR" sz="2400" dirty="0"/>
              <a:t>π(j) = x</a:t>
            </a:r>
            <a:r>
              <a:rPr lang="ko-KR" altLang="en-US" sz="2400" dirty="0"/>
              <a:t>라고 하면</a:t>
            </a:r>
            <a:r>
              <a:rPr lang="en-US" altLang="ko-KR" sz="2400" dirty="0"/>
              <a:t>, </a:t>
            </a:r>
            <a:r>
              <a:rPr lang="ko-KR" altLang="en-US" sz="2400" dirty="0"/>
              <a:t>이는 길이 </a:t>
            </a:r>
            <a:r>
              <a:rPr lang="en-US" altLang="ko-KR" sz="2400" dirty="0"/>
              <a:t>x</a:t>
            </a:r>
            <a:r>
              <a:rPr lang="ko-KR" altLang="en-US" sz="2400" dirty="0"/>
              <a:t>의 문자열이 </a:t>
            </a:r>
            <a:r>
              <a:rPr lang="en-US" altLang="ko-KR" sz="2400" dirty="0"/>
              <a:t>S[..j]</a:t>
            </a:r>
            <a:r>
              <a:rPr lang="ko-KR" altLang="en-US" sz="2400" dirty="0"/>
              <a:t>에서 접두사</a:t>
            </a:r>
            <a:r>
              <a:rPr lang="en-US" altLang="ko-KR" sz="2400" dirty="0"/>
              <a:t>, </a:t>
            </a:r>
            <a:r>
              <a:rPr lang="ko-KR" altLang="en-US" sz="2400" dirty="0"/>
              <a:t>접미사로써 </a:t>
            </a:r>
            <a:r>
              <a:rPr lang="en-US" altLang="ko-KR" sz="2400" dirty="0"/>
              <a:t>2</a:t>
            </a:r>
            <a:r>
              <a:rPr lang="ko-KR" altLang="en-US" sz="2400" dirty="0"/>
              <a:t>번 등장한다는 뜻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π</a:t>
            </a:r>
            <a:r>
              <a:rPr lang="ko-KR" altLang="en-US" sz="2400" dirty="0"/>
              <a:t>의 최댓값을 구하면 </a:t>
            </a:r>
            <a:r>
              <a:rPr lang="en-US" altLang="ko-KR" sz="2400" dirty="0"/>
              <a:t>S[0]</a:t>
            </a:r>
            <a:r>
              <a:rPr lang="ko-KR" altLang="en-US" sz="2400" dirty="0"/>
              <a:t>부터 시작하며</a:t>
            </a:r>
            <a:r>
              <a:rPr lang="en-US" altLang="ko-KR" sz="2400" dirty="0"/>
              <a:t>(</a:t>
            </a:r>
            <a:r>
              <a:rPr lang="ko-KR" altLang="en-US" sz="2400" dirty="0"/>
              <a:t>접두사</a:t>
            </a:r>
            <a:r>
              <a:rPr lang="en-US" altLang="ko-KR" sz="2400" dirty="0"/>
              <a:t>) 2</a:t>
            </a:r>
            <a:r>
              <a:rPr lang="ko-KR" altLang="en-US" sz="2400" dirty="0"/>
              <a:t>번 반복되는 길이 중 최댓값을 구할 수 있다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r>
              <a:rPr lang="ko-KR" altLang="en-US" sz="2400" dirty="0"/>
              <a:t>그렇다면 모든 </a:t>
            </a:r>
            <a:r>
              <a:rPr lang="en-US" altLang="ko-KR" sz="2400" dirty="0"/>
              <a:t>S[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부터 시작하며 반복하는 최대를 확인하면 될 일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r>
              <a:rPr lang="en-US" altLang="ko-KR" sz="2400" dirty="0"/>
              <a:t>FOR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 = 0..N-1 do max( π(S[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..]) ) </a:t>
            </a:r>
            <a:r>
              <a:rPr lang="ko-KR" altLang="en-US" sz="2400" dirty="0"/>
              <a:t>구하기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2400" dirty="0"/>
              <a:t>N</a:t>
            </a:r>
            <a:r>
              <a:rPr lang="ko-KR" altLang="en-US" sz="2400" dirty="0"/>
              <a:t>번 반복</a:t>
            </a:r>
            <a:r>
              <a:rPr lang="en-US" altLang="ko-KR" sz="2400" dirty="0"/>
              <a:t>, </a:t>
            </a:r>
            <a:r>
              <a:rPr lang="ko-KR" altLang="en-US" sz="2400" dirty="0"/>
              <a:t>각 실패함수 구하기 </a:t>
            </a:r>
            <a:r>
              <a:rPr lang="en-US" altLang="ko-KR" sz="2400" dirty="0"/>
              <a:t>O(N), </a:t>
            </a:r>
            <a:r>
              <a:rPr lang="ko-KR" altLang="en-US" sz="2400" dirty="0"/>
              <a:t>총 시간 복잡도 </a:t>
            </a:r>
            <a:r>
              <a:rPr lang="en-US" altLang="ko-KR" sz="2400" dirty="0"/>
              <a:t>O(N^2).</a:t>
            </a:r>
          </a:p>
        </p:txBody>
      </p:sp>
    </p:spTree>
    <p:extLst>
      <p:ext uri="{BB962C8B-B14F-4D97-AF65-F5344CB8AC3E}">
        <p14:creationId xmlns:p14="http://schemas.microsoft.com/office/powerpoint/2010/main" val="804435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99CB3-20C3-A7DE-FD2C-02D4A809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C974E-1E18-D568-3ADE-DC18C8E22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지금까지 수고 많으셨습니다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0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653</Words>
  <Application>Microsoft Office PowerPoint</Application>
  <PresentationFormat>와이드스크린</PresentationFormat>
  <Paragraphs>207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KMP</vt:lpstr>
      <vt:lpstr>문자열에서 패턴 등장 위치 찾기</vt:lpstr>
      <vt:lpstr>Knuth-Morris-Pratt(KMP) Algorithm</vt:lpstr>
      <vt:lpstr>아이디어</vt:lpstr>
      <vt:lpstr>아이디어</vt:lpstr>
      <vt:lpstr>실패함수</vt:lpstr>
      <vt:lpstr>KMP 구현</vt:lpstr>
      <vt:lpstr>실패함수 구현</vt:lpstr>
      <vt:lpstr>BOJ 1786 - 찾기</vt:lpstr>
      <vt:lpstr>BOJ 1305: 광고</vt:lpstr>
      <vt:lpstr>BOJ 1701: Cubeditor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김범수</dc:creator>
  <cp:lastModifiedBy>전상현</cp:lastModifiedBy>
  <cp:revision>56</cp:revision>
  <dcterms:created xsi:type="dcterms:W3CDTF">2025-09-09T00:30:08Z</dcterms:created>
  <dcterms:modified xsi:type="dcterms:W3CDTF">2025-11-25T10:41:35Z</dcterms:modified>
</cp:coreProperties>
</file>