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9" r:id="rId6"/>
    <p:sldId id="265" r:id="rId7"/>
    <p:sldId id="260" r:id="rId8"/>
    <p:sldId id="266" r:id="rId9"/>
    <p:sldId id="267" r:id="rId10"/>
    <p:sldId id="261" r:id="rId11"/>
    <p:sldId id="264" r:id="rId12"/>
    <p:sldId id="268" r:id="rId13"/>
    <p:sldId id="263" r:id="rId14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96" y="3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FD8245-4BEE-4B05-9E13-E7A63C191D25}" type="datetimeFigureOut">
              <a:rPr lang="ko-KR" altLang="en-US" smtClean="0"/>
              <a:t>2025-10-28(Tue)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12058E-D46A-44FC-AA1F-269E8AE71AA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9519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512058E-D46A-44FC-AA1F-269E8AE71AA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91674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1DED37-243B-C394-0B3B-401C999B01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05AD2C1-5F2E-9901-3A9C-970A8AF48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5B8BC5C-16C9-DC61-37D7-4D2863BBD1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F2675-4EE7-4936-87B5-A1BB10481785}" type="datetimeFigureOut">
              <a:rPr lang="ko-KR" altLang="en-US" smtClean="0"/>
              <a:t>2025-10-28(Tue)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20D4C9-76AB-42BE-3FDA-4AD5759BD5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FD20EC-30AB-BD84-19B2-B92790D0D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A947-101E-442A-90F9-5A81565A8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23001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6291559-1949-82D8-12A9-DEA726CE7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27D290D-2DC5-FE12-00A5-6EF4F410ED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3724D8E-C7FF-12B2-FE2C-1F189B8B2D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F2675-4EE7-4936-87B5-A1BB10481785}" type="datetimeFigureOut">
              <a:rPr lang="ko-KR" altLang="en-US" smtClean="0"/>
              <a:t>2025-10-28(Tue)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2998178-CAB8-6374-58DE-FC0819D448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C79611-AA53-5B75-3BB5-D8CC6EAFCD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A947-101E-442A-90F9-5A81565A8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49247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F1120-D83C-5675-1682-74F232FF04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742FBE8-3F58-D3DF-3B04-C3FF9920E7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F7D250-6111-432E-6899-CF331C0FE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F2675-4EE7-4936-87B5-A1BB10481785}" type="datetimeFigureOut">
              <a:rPr lang="ko-KR" altLang="en-US" smtClean="0"/>
              <a:t>2025-10-28(Tue)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C532D5-97E5-46E3-1F90-C7E0DFCC6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AFE2F2-32DB-FCA5-FF9D-CAB5018B7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A947-101E-442A-90F9-5A81565A8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305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F5BD309-9083-1681-D7E0-4C7E32C068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C98C55F-49F9-564C-C5AC-F39558385A1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9440796-7D54-CAF5-17E6-E06B044D85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CE87F42-40C5-2C27-F2D6-D95361900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F2675-4EE7-4936-87B5-A1BB10481785}" type="datetimeFigureOut">
              <a:rPr lang="ko-KR" altLang="en-US" smtClean="0"/>
              <a:t>2025-10-28(Tue)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76AE9E4-5784-B255-63B5-2DCC0DC73E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A10CDC3-3341-AD3E-CDD0-36DF420C8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A947-101E-442A-90F9-5A81565A8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4306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996D8F-BB1B-E230-F00F-F76785E40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E9BBF2-ABFB-F829-0DAC-1F9BF5F13B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F215667-D409-3125-AE4F-08430E2ABF6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CE12C5-26AB-A2BF-352F-148AA880BF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5193D531-DADE-7EA8-A063-62AEF45412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D35557A-8C32-9961-8A68-DD9231202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F2675-4EE7-4936-87B5-A1BB10481785}" type="datetimeFigureOut">
              <a:rPr lang="ko-KR" altLang="en-US" smtClean="0"/>
              <a:t>2025-10-28(Tue)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67B3F978-0EE4-1B06-0556-E5750B20A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F70CAE3-063E-A4AA-D38B-058C8F74F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A947-101E-442A-90F9-5A81565A8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31783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1ADE393-380D-DD50-7178-67D9485514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3C742A-0BF2-8A0F-3C19-C8358F5A5F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F2675-4EE7-4936-87B5-A1BB10481785}" type="datetimeFigureOut">
              <a:rPr lang="ko-KR" altLang="en-US" smtClean="0"/>
              <a:t>2025-10-28(Tue)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65BA5F9-6DC2-34A5-074E-022DB6DCDA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F901A6A-6BBC-9275-7DAE-92A5F97215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A947-101E-442A-90F9-5A81565A8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14123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007ED3C-24F7-6BFE-13F7-A932960DF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F2675-4EE7-4936-87B5-A1BB10481785}" type="datetimeFigureOut">
              <a:rPr lang="ko-KR" altLang="en-US" smtClean="0"/>
              <a:t>2025-10-28(Tue)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6E68741-A353-B6EF-50DD-26DA4C2FDB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3FD4F61-BAA7-1CFE-4842-E1B10F47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A947-101E-442A-90F9-5A81565A8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92716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889184E-512F-9B3C-584F-6B1CA012B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7525D3B-7633-AE4E-8526-07403CEA59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169742A-D9FF-6863-9601-7CC525B723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3151599-E112-7021-FE11-57A4305D9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F2675-4EE7-4936-87B5-A1BB10481785}" type="datetimeFigureOut">
              <a:rPr lang="ko-KR" altLang="en-US" smtClean="0"/>
              <a:t>2025-10-28(Tue)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0A977CC-B2AE-6FF3-FC72-5786FCE937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24A3693-5BD1-A46D-A943-AC4C5A29F3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A947-101E-442A-90F9-5A81565A8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29129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5D2949-0210-DF1A-B80A-61D8FE7E1C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30D246A-2E93-8E00-23A8-F4CC11172B6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9FD57A0-88B5-CF56-A670-05BABDC3A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A57CB37-FA8A-91C4-6EFE-C9E3CF263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F2675-4EE7-4936-87B5-A1BB10481785}" type="datetimeFigureOut">
              <a:rPr lang="ko-KR" altLang="en-US" smtClean="0"/>
              <a:t>2025-10-28(Tue)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75ED785-9DB6-650E-8A6F-234459943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D426804-ED05-F101-99EA-8FEF606FDC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A947-101E-442A-90F9-5A81565A8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097491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346F428-D8D3-0228-29CB-24822AF98A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E12CD10-71F2-55F6-8B1E-7A6C9C9A16C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AA8ADF9-AD38-7E5B-452F-9B1F04A18F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F2675-4EE7-4936-87B5-A1BB10481785}" type="datetimeFigureOut">
              <a:rPr lang="ko-KR" altLang="en-US" smtClean="0"/>
              <a:t>2025-10-28(Tue)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325E31-EBF9-F8AD-666A-75AB4A7147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75D7B7-C9EE-AB1B-3B47-EC0566FD7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A947-101E-442A-90F9-5A81565A8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61443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1E01FA58-25B3-5E72-1D82-0888169F14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F1338E7-D0E4-32D5-B579-20BCE2445A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9C8032A-07FA-D06E-2B11-6F3AC05603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EF2675-4EE7-4936-87B5-A1BB10481785}" type="datetimeFigureOut">
              <a:rPr lang="ko-KR" altLang="en-US" smtClean="0"/>
              <a:t>2025-10-28(Tue)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5F4263C-7C6F-035C-BEE2-D2A7BBEAD9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7F8638C-1596-826C-74AE-FC5724ECF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F9A947-101E-442A-90F9-5A81565A8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0661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1C079D4A-A8E2-B83E-5297-D7E235BA7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E3B967F-DEFB-42A6-63CA-A91E885FC3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AC8D4B2-B684-C132-A57E-C991DBD5B2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EF2675-4EE7-4936-87B5-A1BB10481785}" type="datetimeFigureOut">
              <a:rPr lang="ko-KR" altLang="en-US" smtClean="0"/>
              <a:t>2025-10-28(Tue)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4E073C-3C46-1A96-00EF-D966A987A20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F3BC480-9A60-9612-720F-A41A465BBA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4F9A947-101E-442A-90F9-5A81565A828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335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D809537-16AC-9953-4972-A79DCF13344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그래프</a:t>
            </a:r>
            <a:r>
              <a:rPr lang="en-US" altLang="ko-KR" dirty="0"/>
              <a:t> DP, </a:t>
            </a:r>
            <a:r>
              <a:rPr lang="ko-KR" altLang="en-US" dirty="0"/>
              <a:t>위상 정렬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35203BC9-8E58-CF2C-5338-DAA63B8025E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0&amp;1 </a:t>
            </a:r>
            <a:r>
              <a:rPr lang="ko-KR" altLang="en-US" dirty="0"/>
              <a:t>스터디 </a:t>
            </a:r>
            <a:r>
              <a:rPr lang="en-US" altLang="ko-KR" dirty="0"/>
              <a:t>2</a:t>
            </a:r>
            <a:r>
              <a:rPr lang="ko-KR" altLang="en-US" dirty="0"/>
              <a:t>주차</a:t>
            </a:r>
            <a:endParaRPr lang="en-US" altLang="ko-KR" dirty="0"/>
          </a:p>
          <a:p>
            <a:r>
              <a:rPr lang="ko-KR" altLang="en-US" dirty="0"/>
              <a:t>김범수</a:t>
            </a:r>
          </a:p>
        </p:txBody>
      </p:sp>
    </p:spTree>
    <p:extLst>
      <p:ext uri="{BB962C8B-B14F-4D97-AF65-F5344CB8AC3E}">
        <p14:creationId xmlns:p14="http://schemas.microsoft.com/office/powerpoint/2010/main" val="17159894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60BE45-B18D-E4B2-9982-F062F1C267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316"/>
            <a:ext cx="10515600" cy="1325563"/>
          </a:xfrm>
        </p:spPr>
        <p:txBody>
          <a:bodyPr/>
          <a:lstStyle/>
          <a:p>
            <a:r>
              <a:rPr lang="en-US" altLang="ko-KR" dirty="0"/>
              <a:t>ZOAC </a:t>
            </a:r>
            <a:r>
              <a:rPr lang="ko-KR" altLang="en-US" dirty="0"/>
              <a:t>홍보</a:t>
            </a:r>
          </a:p>
        </p:txBody>
      </p:sp>
      <p:pic>
        <p:nvPicPr>
          <p:cNvPr id="7" name="내용 개체 틀 6" descr="텍스트, 스크린샷, 그래픽 디자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7756CDC-9A97-5290-01F9-6E554C40B53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903" y="1392138"/>
            <a:ext cx="3258898" cy="460976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9B7F64-6F71-DF38-5E97-BD936C9DAD69}"/>
              </a:ext>
            </a:extLst>
          </p:cNvPr>
          <p:cNvSpPr txBox="1"/>
          <p:nvPr/>
        </p:nvSpPr>
        <p:spPr>
          <a:xfrm>
            <a:off x="5688918" y="1392138"/>
            <a:ext cx="59159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대회 일정</a:t>
            </a:r>
            <a:endParaRPr lang="en-US" altLang="ko-KR" sz="2800" b="1" dirty="0"/>
          </a:p>
          <a:p>
            <a:pPr algn="ctr"/>
            <a:endParaRPr lang="en-US" altLang="ko-KR" sz="2800" b="1" dirty="0"/>
          </a:p>
          <a:p>
            <a:pPr algn="ctr"/>
            <a:r>
              <a:rPr lang="en-US" altLang="ko-KR" sz="2800" b="1" dirty="0"/>
              <a:t>11/15 </a:t>
            </a:r>
            <a:r>
              <a:rPr lang="ko-KR" altLang="en-US" sz="2800" b="1" dirty="0"/>
              <a:t>토요일</a:t>
            </a:r>
            <a:endParaRPr lang="en-US" altLang="ko-KR" sz="2800" b="1" dirty="0"/>
          </a:p>
          <a:p>
            <a:pPr algn="ctr"/>
            <a:r>
              <a:rPr lang="en-US" altLang="ko-KR" sz="2800" b="1" dirty="0"/>
              <a:t>13:30 ~ 16:00 (2</a:t>
            </a:r>
            <a:r>
              <a:rPr lang="ko-KR" altLang="en-US" sz="2800" b="1" dirty="0"/>
              <a:t>시간 </a:t>
            </a:r>
            <a:r>
              <a:rPr lang="en-US" altLang="ko-KR" sz="2800" b="1" dirty="0"/>
              <a:t>30</a:t>
            </a:r>
            <a:r>
              <a:rPr lang="ko-KR" altLang="en-US" sz="2800" b="1" dirty="0"/>
              <a:t>분</a:t>
            </a:r>
            <a:r>
              <a:rPr lang="en-US" altLang="ko-KR" sz="2800" b="1" dirty="0"/>
              <a:t>)</a:t>
            </a:r>
          </a:p>
          <a:p>
            <a:pPr algn="ctr"/>
            <a:endParaRPr lang="en-US" altLang="ko-KR" sz="2800" b="1" dirty="0"/>
          </a:p>
          <a:p>
            <a:pPr algn="ctr"/>
            <a:endParaRPr lang="en-US" altLang="ko-KR" sz="2800" b="1" dirty="0"/>
          </a:p>
          <a:p>
            <a:pPr algn="ctr"/>
            <a:r>
              <a:rPr lang="en-US" altLang="ko-KR" sz="2800" b="1" dirty="0"/>
              <a:t>10/29</a:t>
            </a:r>
            <a:r>
              <a:rPr lang="ko-KR" altLang="en-US" sz="2800" b="1" dirty="0"/>
              <a:t>부터 일주일간</a:t>
            </a:r>
            <a:endParaRPr lang="en-US" altLang="ko-KR" sz="2800" b="1" dirty="0"/>
          </a:p>
          <a:p>
            <a:pPr algn="ctr"/>
            <a:r>
              <a:rPr lang="ko-KR" altLang="en-US" sz="2800" b="1" dirty="0"/>
              <a:t>신청 받는다고 합니다</a:t>
            </a:r>
            <a:endParaRPr lang="en-US" altLang="ko-KR" sz="2800" b="1" dirty="0"/>
          </a:p>
          <a:p>
            <a:pPr algn="ctr"/>
            <a:endParaRPr lang="en-US" altLang="ko-KR" sz="2800" b="1" dirty="0"/>
          </a:p>
          <a:p>
            <a:pPr algn="ctr"/>
            <a:r>
              <a:rPr lang="ko-KR" altLang="en-US" sz="2800" b="1" dirty="0"/>
              <a:t>많은 관심과 신청 부탁드립니다</a:t>
            </a:r>
            <a:r>
              <a:rPr lang="en-US" altLang="ko-KR" sz="2800" b="1" dirty="0"/>
              <a:t>!!!!!!</a:t>
            </a:r>
            <a:endParaRPr lang="ko-KR" altLang="en-US" sz="2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4765EAE-F543-95D9-6B31-82D78D1BE385}"/>
              </a:ext>
            </a:extLst>
          </p:cNvPr>
          <p:cNvSpPr txBox="1"/>
          <p:nvPr/>
        </p:nvSpPr>
        <p:spPr>
          <a:xfrm>
            <a:off x="1321765" y="6235103"/>
            <a:ext cx="46185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85000"/>
                  </a:schemeClr>
                </a:solidFill>
              </a:rPr>
              <a:t>포스터가 이전에 만들어진 거라 달라진 정보가 있어요</a:t>
            </a:r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ko-KR" alt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411178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F8738FB-39D8-82F4-FCE7-F844CD595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트리 </a:t>
            </a:r>
            <a:r>
              <a:rPr lang="en-US" altLang="ko-KR" dirty="0"/>
              <a:t>DP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C7BBB1F-01DE-3BC1-A00A-7B6690295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ko-KR" altLang="en-US" dirty="0"/>
              <a:t>그간 배열 같은 선형 구조 위에서 </a:t>
            </a:r>
            <a:r>
              <a:rPr lang="en-US" altLang="ko-KR" dirty="0"/>
              <a:t>DP</a:t>
            </a:r>
            <a:r>
              <a:rPr lang="ko-KR" altLang="en-US" dirty="0"/>
              <a:t>를 해왔다면 </a:t>
            </a:r>
            <a:endParaRPr lang="en-US" altLang="ko-KR" dirty="0"/>
          </a:p>
          <a:p>
            <a:r>
              <a:rPr lang="ko-KR" altLang="en-US" dirty="0"/>
              <a:t>그래프 같은 비선형 구조 위에서도 </a:t>
            </a:r>
            <a:r>
              <a:rPr lang="en-US" altLang="ko-KR" dirty="0"/>
              <a:t>DP</a:t>
            </a:r>
            <a:r>
              <a:rPr lang="ko-KR" altLang="en-US" dirty="0"/>
              <a:t>를 할 수 있다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트리 </a:t>
            </a:r>
            <a:r>
              <a:rPr lang="en-US" altLang="ko-KR" dirty="0"/>
              <a:t>: </a:t>
            </a:r>
            <a:r>
              <a:rPr lang="ko-KR" altLang="en-US" dirty="0"/>
              <a:t>트리의 재귀적인 특성을 이용해서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  <a:p>
            <a:r>
              <a:rPr lang="ko-KR" altLang="en-US" dirty="0"/>
              <a:t>자식 정점 </a:t>
            </a:r>
            <a:r>
              <a:rPr lang="en-US" altLang="ko-KR" dirty="0"/>
              <a:t>DP</a:t>
            </a:r>
            <a:r>
              <a:rPr lang="ko-KR" altLang="en-US" dirty="0"/>
              <a:t>값을 먼저 채우고 </a:t>
            </a:r>
            <a:r>
              <a:rPr lang="en-US" altLang="ko-KR" dirty="0"/>
              <a:t>-&gt; </a:t>
            </a:r>
            <a:r>
              <a:rPr lang="ko-KR" altLang="en-US" dirty="0"/>
              <a:t>부모 정점으로 전파</a:t>
            </a:r>
            <a:endParaRPr lang="en-US" altLang="ko-KR" dirty="0"/>
          </a:p>
          <a:p>
            <a:r>
              <a:rPr lang="en-US" altLang="ko-KR" dirty="0"/>
              <a:t>ex) </a:t>
            </a:r>
            <a:r>
              <a:rPr lang="ko-KR" altLang="en-US" dirty="0" err="1"/>
              <a:t>서브트리에서의</a:t>
            </a:r>
            <a:r>
              <a:rPr lang="ko-KR" altLang="en-US" dirty="0"/>
              <a:t> </a:t>
            </a:r>
            <a:r>
              <a:rPr lang="ko-KR" altLang="en-US" dirty="0" err="1"/>
              <a:t>어쩌구저쩌구</a:t>
            </a:r>
            <a:r>
              <a:rPr lang="en-US" altLang="ko-KR" dirty="0"/>
              <a:t>~~ </a:t>
            </a:r>
          </a:p>
          <a:p>
            <a:endParaRPr lang="en-US" altLang="ko-KR" dirty="0"/>
          </a:p>
          <a:p>
            <a:r>
              <a:rPr lang="ko-KR" altLang="en-US" dirty="0"/>
              <a:t>부모 정점 </a:t>
            </a:r>
            <a:r>
              <a:rPr lang="en-US" altLang="ko-KR" dirty="0"/>
              <a:t>DP</a:t>
            </a:r>
            <a:r>
              <a:rPr lang="ko-KR" altLang="en-US" dirty="0"/>
              <a:t>값을 먼저 채우고 </a:t>
            </a:r>
            <a:r>
              <a:rPr lang="en-US" altLang="ko-KR" dirty="0"/>
              <a:t>-&gt; </a:t>
            </a:r>
            <a:r>
              <a:rPr lang="ko-KR" altLang="en-US" dirty="0"/>
              <a:t>자식 정점으로 전파</a:t>
            </a:r>
            <a:endParaRPr lang="en-US" altLang="ko-KR" dirty="0"/>
          </a:p>
          <a:p>
            <a:r>
              <a:rPr lang="en-US" altLang="ko-KR" dirty="0"/>
              <a:t>ex) </a:t>
            </a:r>
            <a:r>
              <a:rPr lang="ko-KR" altLang="en-US" dirty="0"/>
              <a:t>정점의 깊이 구하기 등</a:t>
            </a:r>
            <a:r>
              <a:rPr lang="en-US" altLang="ko-KR" dirty="0"/>
              <a:t>..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22630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C0B5C8-49E2-D071-AF7F-AEB865D5E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 15681: </a:t>
            </a:r>
            <a:r>
              <a:rPr lang="ko-KR" altLang="en-US" dirty="0"/>
              <a:t>트리와 쿼리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02DF258-6785-B21A-8057-E37B3D1626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아주 친절하고 자세한 설명이 포함된 문제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한마디로 </a:t>
            </a:r>
            <a:r>
              <a:rPr lang="en-US" altLang="ko-KR" dirty="0"/>
              <a:t>: </a:t>
            </a:r>
            <a:r>
              <a:rPr lang="ko-KR" altLang="en-US" dirty="0"/>
              <a:t>각 정점을 루트로 하는 </a:t>
            </a:r>
            <a:r>
              <a:rPr lang="ko-KR" altLang="en-US" dirty="0" err="1"/>
              <a:t>서브트리</a:t>
            </a:r>
            <a:r>
              <a:rPr lang="ko-KR" altLang="en-US" dirty="0"/>
              <a:t> 정점의 개수 구하기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그대로 </a:t>
            </a:r>
            <a:r>
              <a:rPr lang="en-US" altLang="ko-KR" dirty="0"/>
              <a:t>DP[X] : X </a:t>
            </a:r>
            <a:r>
              <a:rPr lang="ko-KR" altLang="en-US" dirty="0" err="1"/>
              <a:t>서브트리</a:t>
            </a:r>
            <a:r>
              <a:rPr lang="ko-KR" altLang="en-US" dirty="0"/>
              <a:t> 정점 개수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루트에서 </a:t>
            </a:r>
            <a:r>
              <a:rPr lang="en-US" altLang="ko-KR" dirty="0"/>
              <a:t>DFS </a:t>
            </a:r>
            <a:r>
              <a:rPr lang="ko-KR" altLang="en-US" dirty="0"/>
              <a:t>비슷하게 탐색 시작해서</a:t>
            </a:r>
            <a:endParaRPr lang="en-US" altLang="ko-KR" dirty="0"/>
          </a:p>
          <a:p>
            <a:r>
              <a:rPr lang="ko-KR" altLang="en-US" dirty="0"/>
              <a:t>리프 노드에서부터 탐색 끝나면서 </a:t>
            </a:r>
            <a:r>
              <a:rPr lang="en-US" altLang="ko-KR" dirty="0"/>
              <a:t>DP</a:t>
            </a:r>
            <a:r>
              <a:rPr lang="ko-KR" altLang="en-US" dirty="0"/>
              <a:t>값 채우고</a:t>
            </a:r>
            <a:endParaRPr lang="en-US" altLang="ko-KR" dirty="0"/>
          </a:p>
          <a:p>
            <a:r>
              <a:rPr lang="ko-KR" altLang="en-US" dirty="0"/>
              <a:t>점점 다시 올라가는 형태로</a:t>
            </a:r>
            <a:endParaRPr lang="en-US" altLang="ko-KR" dirty="0"/>
          </a:p>
          <a:p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017985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A455D92-E64E-5535-96A3-C126594BA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 2533: </a:t>
            </a:r>
            <a:r>
              <a:rPr lang="ko-KR" altLang="en-US" dirty="0" err="1"/>
              <a:t>사회망</a:t>
            </a:r>
            <a:r>
              <a:rPr lang="ko-KR" altLang="en-US" dirty="0"/>
              <a:t> 서비스</a:t>
            </a:r>
            <a:r>
              <a:rPr lang="en-US" altLang="ko-KR" dirty="0"/>
              <a:t>(SNS)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A4F468-F055-3879-5ED3-EA5B675F64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1034823" cy="4351338"/>
          </a:xfrm>
        </p:spPr>
        <p:txBody>
          <a:bodyPr>
            <a:normAutofit lnSpcReduction="10000"/>
          </a:bodyPr>
          <a:lstStyle/>
          <a:p>
            <a:r>
              <a:rPr lang="en-US" altLang="ko-KR" dirty="0"/>
              <a:t>Hint</a:t>
            </a:r>
          </a:p>
          <a:p>
            <a:endParaRPr lang="en-US" altLang="ko-KR" dirty="0"/>
          </a:p>
          <a:p>
            <a:r>
              <a:rPr lang="en-US" altLang="ko-KR" dirty="0"/>
              <a:t>DP[node][0]</a:t>
            </a:r>
          </a:p>
          <a:p>
            <a:r>
              <a:rPr lang="ko-KR" altLang="en-US" dirty="0"/>
              <a:t>현재 정점을 포함했을 때의 </a:t>
            </a:r>
            <a:r>
              <a:rPr lang="ko-KR" altLang="en-US" dirty="0" err="1"/>
              <a:t>서브트리에서의</a:t>
            </a:r>
            <a:r>
              <a:rPr lang="ko-KR" altLang="en-US" dirty="0"/>
              <a:t> 최댓값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DP[node][1]</a:t>
            </a:r>
          </a:p>
          <a:p>
            <a:r>
              <a:rPr lang="ko-KR" altLang="en-US" dirty="0"/>
              <a:t>현재 정점을 포함하지 않았을 때의 </a:t>
            </a:r>
            <a:r>
              <a:rPr lang="ko-KR" altLang="en-US" dirty="0" err="1"/>
              <a:t>서브트리에서의</a:t>
            </a:r>
            <a:r>
              <a:rPr lang="ko-KR" altLang="en-US" dirty="0"/>
              <a:t> 최댓값</a:t>
            </a:r>
            <a:endParaRPr lang="en-US" altLang="ko-KR" dirty="0"/>
          </a:p>
          <a:p>
            <a:endParaRPr lang="en-US" altLang="ko-KR" dirty="0"/>
          </a:p>
          <a:p>
            <a:r>
              <a:rPr lang="ko-KR" altLang="en-US" dirty="0"/>
              <a:t>와 같은 형태로 구성해서 답을 구할 수 있다</a:t>
            </a:r>
          </a:p>
        </p:txBody>
      </p:sp>
    </p:spTree>
    <p:extLst>
      <p:ext uri="{BB962C8B-B14F-4D97-AF65-F5344CB8AC3E}">
        <p14:creationId xmlns:p14="http://schemas.microsoft.com/office/powerpoint/2010/main" val="341327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15F98C-BCBC-9E4A-73E6-30C79FE649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DAG (Directed Acyclic Graph)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D811067-C248-5358-27AA-B954AC2198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방향 </a:t>
            </a:r>
            <a:r>
              <a:rPr lang="ko-KR" altLang="en-US" dirty="0" err="1"/>
              <a:t>비순환</a:t>
            </a:r>
            <a:r>
              <a:rPr lang="ko-KR" altLang="en-US" dirty="0"/>
              <a:t> 그래프</a:t>
            </a:r>
            <a:endParaRPr lang="en-US" altLang="ko-KR" dirty="0"/>
          </a:p>
          <a:p>
            <a:r>
              <a:rPr lang="en-US" altLang="ko-KR" dirty="0"/>
              <a:t>= </a:t>
            </a:r>
            <a:r>
              <a:rPr lang="ko-KR" altLang="en-US" dirty="0"/>
              <a:t>사이클이 없는 방향 그래프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6CF44BE-5662-FCF2-EA5B-609A9218C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475" y="3054317"/>
            <a:ext cx="3606985" cy="3276768"/>
          </a:xfrm>
          <a:prstGeom prst="rect">
            <a:avLst/>
          </a:prstGeom>
        </p:spPr>
      </p:pic>
      <p:pic>
        <p:nvPicPr>
          <p:cNvPr id="7" name="그림 6">
            <a:extLst>
              <a:ext uri="{FF2B5EF4-FFF2-40B4-BE49-F238E27FC236}">
                <a16:creationId xmlns:a16="http://schemas.microsoft.com/office/drawing/2014/main" id="{DF933DC6-78A9-8908-E6B8-021F3578C2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59964" y="2942262"/>
            <a:ext cx="3911801" cy="3302170"/>
          </a:xfrm>
          <a:prstGeom prst="rect">
            <a:avLst/>
          </a:prstGeom>
        </p:spPr>
      </p:pic>
      <p:sp>
        <p:nvSpPr>
          <p:cNvPr id="8" name="원형: 비어 있음 7">
            <a:extLst>
              <a:ext uri="{FF2B5EF4-FFF2-40B4-BE49-F238E27FC236}">
                <a16:creationId xmlns:a16="http://schemas.microsoft.com/office/drawing/2014/main" id="{D42FA71C-CDF3-6F05-F30C-E282DF16E9A4}"/>
              </a:ext>
            </a:extLst>
          </p:cNvPr>
          <p:cNvSpPr/>
          <p:nvPr/>
        </p:nvSpPr>
        <p:spPr>
          <a:xfrm>
            <a:off x="1918536" y="2942262"/>
            <a:ext cx="3911800" cy="3778443"/>
          </a:xfrm>
          <a:prstGeom prst="donut">
            <a:avLst>
              <a:gd name="adj" fmla="val 6558"/>
            </a:avLst>
          </a:prstGeom>
          <a:solidFill>
            <a:schemeClr val="accent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9" name="십자형 8">
            <a:extLst>
              <a:ext uri="{FF2B5EF4-FFF2-40B4-BE49-F238E27FC236}">
                <a16:creationId xmlns:a16="http://schemas.microsoft.com/office/drawing/2014/main" id="{2A9355D3-32FA-0247-08C4-AA85A954A95C}"/>
              </a:ext>
            </a:extLst>
          </p:cNvPr>
          <p:cNvSpPr/>
          <p:nvPr/>
        </p:nvSpPr>
        <p:spPr>
          <a:xfrm rot="18908444">
            <a:off x="6222017" y="2388648"/>
            <a:ext cx="4587694" cy="4608104"/>
          </a:xfrm>
          <a:prstGeom prst="plus">
            <a:avLst>
              <a:gd name="adj" fmla="val 47688"/>
            </a:avLst>
          </a:prstGeom>
          <a:solidFill>
            <a:srgbClr val="FF0000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27647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842FB8-E160-639C-4A76-BFA902C01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위상 정렬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A5F8D41-00A5-3C25-E0F9-FC848C5E5D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DAG</a:t>
            </a:r>
            <a:r>
              <a:rPr lang="ko-KR" altLang="en-US" dirty="0"/>
              <a:t>에서 정점들을 순서대로 정렬하기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7D4D43E-74C2-90AE-EA11-7FFF907CC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7275" y="2816318"/>
            <a:ext cx="5816899" cy="3225966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:a16="http://schemas.microsoft.com/office/drawing/2014/main" id="{4E78A634-9B6A-4B40-A7B3-0556238C26B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168" y="2900195"/>
            <a:ext cx="3606985" cy="3276768"/>
          </a:xfrm>
          <a:prstGeom prst="rect">
            <a:avLst/>
          </a:prstGeom>
        </p:spPr>
      </p:pic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6F5B38D4-3D98-5137-67A9-C8A11E306E31}"/>
              </a:ext>
            </a:extLst>
          </p:cNvPr>
          <p:cNvCxnSpPr>
            <a:cxnSpLocks/>
          </p:cNvCxnSpPr>
          <p:nvPr/>
        </p:nvCxnSpPr>
        <p:spPr>
          <a:xfrm>
            <a:off x="4841359" y="4429301"/>
            <a:ext cx="822251" cy="0"/>
          </a:xfrm>
          <a:prstGeom prst="straightConnector1">
            <a:avLst/>
          </a:prstGeom>
          <a:ln w="73025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D8D9A07B-2CF6-A04F-7321-4E32003B7580}"/>
              </a:ext>
            </a:extLst>
          </p:cNvPr>
          <p:cNvSpPr txBox="1"/>
          <p:nvPr/>
        </p:nvSpPr>
        <p:spPr>
          <a:xfrm>
            <a:off x="7655849" y="6059637"/>
            <a:ext cx="31181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그림이 대충이라 죄송합니다</a:t>
            </a:r>
          </a:p>
        </p:txBody>
      </p:sp>
    </p:spTree>
    <p:extLst>
      <p:ext uri="{BB962C8B-B14F-4D97-AF65-F5344CB8AC3E}">
        <p14:creationId xmlns:p14="http://schemas.microsoft.com/office/powerpoint/2010/main" val="16096288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07CD45-67E6-DFB3-2934-C7F5994790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위상 정렬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C5112B0-4243-CC03-8CE5-1050A431B0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ko-KR" dirty="0"/>
              <a:t>DFS</a:t>
            </a:r>
            <a:r>
              <a:rPr lang="ko-KR" altLang="en-US" dirty="0"/>
              <a:t>를 이용한 방법</a:t>
            </a:r>
            <a:endParaRPr lang="en-US" altLang="ko-KR" dirty="0"/>
          </a:p>
          <a:p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1. </a:t>
            </a:r>
            <a:r>
              <a:rPr lang="ko-KR" altLang="en-US" dirty="0"/>
              <a:t>평범하게 </a:t>
            </a:r>
            <a:r>
              <a:rPr lang="en-US" altLang="ko-KR" dirty="0"/>
              <a:t>DFS</a:t>
            </a:r>
            <a:r>
              <a:rPr lang="ko-KR" altLang="en-US" dirty="0"/>
              <a:t>를 진행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2. DFS</a:t>
            </a:r>
            <a:r>
              <a:rPr lang="ko-KR" altLang="en-US" dirty="0"/>
              <a:t>를 하다가</a:t>
            </a:r>
            <a:r>
              <a:rPr lang="en-US" altLang="ko-KR" dirty="0"/>
              <a:t>, </a:t>
            </a:r>
            <a:r>
              <a:rPr lang="ko-KR" altLang="en-US" dirty="0"/>
              <a:t>탐색이 다 끝난 정점을 차례로 스택에 넣기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/>
              <a:t>3. DFS</a:t>
            </a:r>
            <a:r>
              <a:rPr lang="ko-KR" altLang="en-US" dirty="0"/>
              <a:t>가 다 끝났을 때 스택 역순이 위상 정렬</a:t>
            </a:r>
            <a:r>
              <a:rPr lang="en-US" altLang="ko-KR" dirty="0"/>
              <a:t>.</a:t>
            </a:r>
          </a:p>
          <a:p>
            <a:pPr marL="0" indent="0">
              <a:buNone/>
            </a:pP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그림을 준비 못했습니다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..</a:t>
            </a:r>
          </a:p>
          <a:p>
            <a:pPr marL="0" indent="0">
              <a:buNone/>
            </a:pP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근데 블로그 같은 거 찾아보면 그림이랑 같이 잘 나와요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0884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5AE525-1E61-95A4-9754-4DEC909832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위상 정렬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037237D-17DD-23B4-C612-62AF93C5A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666228" cy="4823268"/>
          </a:xfrm>
        </p:spPr>
        <p:txBody>
          <a:bodyPr>
            <a:normAutofit/>
          </a:bodyPr>
          <a:lstStyle/>
          <a:p>
            <a:r>
              <a:rPr lang="ko-KR" altLang="en-US" sz="2400" dirty="0"/>
              <a:t>정점의 입력 차수를 이용한 방법</a:t>
            </a:r>
            <a:endParaRPr lang="en-US" altLang="ko-KR" sz="2400" dirty="0"/>
          </a:p>
          <a:p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indegree[V] : </a:t>
            </a:r>
            <a:r>
              <a:rPr lang="ko-KR" altLang="en-US" sz="2400" dirty="0"/>
              <a:t>정점 </a:t>
            </a:r>
            <a:r>
              <a:rPr lang="en-US" altLang="ko-KR" sz="2400" dirty="0"/>
              <a:t>V</a:t>
            </a:r>
            <a:r>
              <a:rPr lang="ko-KR" altLang="en-US" sz="2400" dirty="0"/>
              <a:t>에 들어오는 간선의 수 </a:t>
            </a:r>
            <a:r>
              <a:rPr lang="en-US" altLang="ko-KR" sz="2400" dirty="0"/>
              <a:t>(</a:t>
            </a:r>
            <a:r>
              <a:rPr lang="ko-KR" altLang="en-US" sz="2400" dirty="0"/>
              <a:t>입력 차수</a:t>
            </a:r>
            <a:r>
              <a:rPr lang="en-US" altLang="ko-KR" sz="2400" dirty="0"/>
              <a:t>)</a:t>
            </a:r>
          </a:p>
          <a:p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1. indegree</a:t>
            </a:r>
            <a:r>
              <a:rPr lang="ko-KR" altLang="en-US" sz="2400" dirty="0"/>
              <a:t>가 </a:t>
            </a:r>
            <a:r>
              <a:rPr lang="en-US" altLang="ko-KR" sz="2400" dirty="0"/>
              <a:t>0</a:t>
            </a:r>
            <a:r>
              <a:rPr lang="ko-KR" altLang="en-US" sz="2400" dirty="0"/>
              <a:t>인 정점을 큐 같은 컨테이너에 담는다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2. </a:t>
            </a:r>
            <a:r>
              <a:rPr lang="ko-KR" altLang="en-US" sz="2400" dirty="0"/>
              <a:t>큐에서 정점을 하나씩 꺼내서</a:t>
            </a:r>
            <a:r>
              <a:rPr lang="en-US" altLang="ko-KR" sz="2400" dirty="0"/>
              <a:t>, </a:t>
            </a:r>
            <a:r>
              <a:rPr lang="ko-KR" altLang="en-US" sz="2400" dirty="0"/>
              <a:t>위상 정렬 결과에 저장하고</a:t>
            </a:r>
            <a:endParaRPr lang="en-US" altLang="ko-KR" sz="2400" dirty="0"/>
          </a:p>
          <a:p>
            <a:pPr marL="0" indent="0">
              <a:buNone/>
            </a:pPr>
            <a:r>
              <a:rPr lang="ko-KR" altLang="en-US" sz="2400" dirty="0"/>
              <a:t>   인접한 정점들의 </a:t>
            </a:r>
            <a:r>
              <a:rPr lang="en-US" altLang="ko-KR" sz="2400" dirty="0"/>
              <a:t>indegree</a:t>
            </a:r>
            <a:r>
              <a:rPr lang="ko-KR" altLang="en-US" sz="2400" dirty="0"/>
              <a:t>를 </a:t>
            </a:r>
            <a:r>
              <a:rPr lang="en-US" altLang="ko-KR" sz="2400" dirty="0"/>
              <a:t>1</a:t>
            </a:r>
            <a:r>
              <a:rPr lang="ko-KR" altLang="en-US" sz="2400" dirty="0"/>
              <a:t>씩 감소시킨다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3. </a:t>
            </a:r>
            <a:r>
              <a:rPr lang="ko-KR" altLang="en-US" sz="2400" dirty="0"/>
              <a:t>이때 </a:t>
            </a:r>
            <a:r>
              <a:rPr lang="en-US" altLang="ko-KR" sz="2400" dirty="0"/>
              <a:t>indegree</a:t>
            </a:r>
            <a:r>
              <a:rPr lang="ko-KR" altLang="en-US" sz="2400" dirty="0"/>
              <a:t>가 새롭게 </a:t>
            </a:r>
            <a:r>
              <a:rPr lang="en-US" altLang="ko-KR" sz="2400" dirty="0"/>
              <a:t>0</a:t>
            </a:r>
            <a:r>
              <a:rPr lang="ko-KR" altLang="en-US" sz="2400" dirty="0"/>
              <a:t>이 된 정점도 큐에 추가</a:t>
            </a:r>
            <a:endParaRPr lang="en-US" altLang="ko-KR" sz="2400" dirty="0"/>
          </a:p>
          <a:p>
            <a:pPr marL="0" indent="0">
              <a:buNone/>
            </a:pPr>
            <a:r>
              <a:rPr lang="en-US" altLang="ko-KR" sz="2400" dirty="0"/>
              <a:t>4. </a:t>
            </a:r>
            <a:r>
              <a:rPr lang="ko-KR" altLang="en-US" sz="2400" dirty="0"/>
              <a:t>다시 큐에서 정점을 하나 꺼내고</a:t>
            </a:r>
            <a:r>
              <a:rPr lang="en-US" altLang="ko-KR" sz="2400" dirty="0"/>
              <a:t>.. </a:t>
            </a:r>
            <a:r>
              <a:rPr lang="ko-KR" altLang="en-US" sz="2400" dirty="0"/>
              <a:t>반복</a:t>
            </a:r>
            <a:r>
              <a:rPr lang="en-US" altLang="ko-KR" sz="2400" dirty="0"/>
              <a:t>!</a:t>
            </a:r>
            <a:endParaRPr lang="ko-KR" altLang="en-US" sz="2400" dirty="0"/>
          </a:p>
        </p:txBody>
      </p:sp>
    </p:spTree>
    <p:extLst>
      <p:ext uri="{BB962C8B-B14F-4D97-AF65-F5344CB8AC3E}">
        <p14:creationId xmlns:p14="http://schemas.microsoft.com/office/powerpoint/2010/main" val="3574416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30CBB6-A623-D443-B74F-FBEAC967D4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위상 정렬 순서를 이용하는 </a:t>
            </a:r>
            <a:r>
              <a:rPr lang="en-US" altLang="ko-KR" dirty="0"/>
              <a:t>DP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8FD06B-C633-A06B-87E3-81B0774AE9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92503" y="1825625"/>
            <a:ext cx="7187608" cy="4351338"/>
          </a:xfrm>
        </p:spPr>
        <p:txBody>
          <a:bodyPr/>
          <a:lstStyle/>
          <a:p>
            <a:r>
              <a:rPr lang="ko-KR" altLang="en-US" dirty="0"/>
              <a:t>위상 정렬된 순서대로 </a:t>
            </a:r>
            <a:r>
              <a:rPr lang="en-US" altLang="ko-KR" dirty="0"/>
              <a:t>DP </a:t>
            </a:r>
            <a:r>
              <a:rPr lang="ko-KR" altLang="en-US" dirty="0"/>
              <a:t>테이블을 채우면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또는 그 역순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그래프 같은 비선형 구조에서도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dp</a:t>
            </a:r>
            <a:r>
              <a:rPr lang="en-US" altLang="ko-KR" dirty="0"/>
              <a:t>[</a:t>
            </a:r>
            <a:r>
              <a:rPr lang="en-US" altLang="ko-KR" dirty="0" err="1"/>
              <a:t>i</a:t>
            </a:r>
            <a:r>
              <a:rPr lang="en-US" altLang="ko-KR" dirty="0"/>
              <a:t>]</a:t>
            </a:r>
            <a:r>
              <a:rPr lang="ko-KR" altLang="en-US" dirty="0"/>
              <a:t>를 채우려고 앞의 정점</a:t>
            </a:r>
            <a:r>
              <a:rPr lang="en-US" altLang="ko-KR" dirty="0"/>
              <a:t>(j)</a:t>
            </a:r>
            <a:r>
              <a:rPr lang="ko-KR" altLang="en-US" dirty="0"/>
              <a:t>을 볼 때</a:t>
            </a:r>
            <a:endParaRPr lang="en-US" altLang="ko-KR" dirty="0"/>
          </a:p>
          <a:p>
            <a:pPr marL="0" indent="0">
              <a:buNone/>
            </a:pPr>
            <a:r>
              <a:rPr lang="en-US" altLang="ko-KR" dirty="0" err="1"/>
              <a:t>dp</a:t>
            </a:r>
            <a:r>
              <a:rPr lang="en-US" altLang="ko-KR" dirty="0"/>
              <a:t>[j]</a:t>
            </a:r>
            <a:r>
              <a:rPr lang="ko-KR" altLang="en-US" dirty="0"/>
              <a:t>가 이미 채워져 있음을 보장할 수 있다</a:t>
            </a:r>
            <a:endParaRPr lang="en-US" altLang="ko-KR" dirty="0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B4BFBF3D-608E-0540-5F82-8DF54F67FD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101" y="1825625"/>
            <a:ext cx="4299987" cy="2384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84588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E0BB846-0709-BC52-7017-53D5000EC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BOJ 1005: ACM Craft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EBE708-7AA0-6CB7-D27D-9242916100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ko-KR" altLang="en-US" dirty="0"/>
              <a:t>건물마다 짓기 위해 먼저 지어야 하는 건물</a:t>
            </a:r>
            <a:r>
              <a:rPr lang="en-US" altLang="ko-KR" dirty="0"/>
              <a:t>(</a:t>
            </a:r>
            <a:r>
              <a:rPr lang="ko-KR" altLang="en-US" dirty="0"/>
              <a:t>선수과목</a:t>
            </a:r>
            <a:r>
              <a:rPr lang="en-US" altLang="ko-KR" dirty="0"/>
              <a:t>)</a:t>
            </a:r>
            <a:r>
              <a:rPr lang="ko-KR" altLang="en-US" dirty="0"/>
              <a:t>이 존재</a:t>
            </a:r>
            <a:endParaRPr lang="en-US" altLang="ko-KR" dirty="0"/>
          </a:p>
          <a:p>
            <a:r>
              <a:rPr lang="ko-KR" altLang="en-US" dirty="0"/>
              <a:t>목표로 하는 건물을 짓는 데 걸리는 최소 시간 구하기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X</a:t>
            </a:r>
            <a:r>
              <a:rPr lang="ko-KR" altLang="en-US" dirty="0"/>
              <a:t> 다음 </a:t>
            </a:r>
            <a:r>
              <a:rPr lang="en-US" altLang="ko-KR" dirty="0"/>
              <a:t>Y</a:t>
            </a:r>
            <a:r>
              <a:rPr lang="ko-KR" altLang="en-US" dirty="0"/>
              <a:t>를 지어야 하는 관계를 </a:t>
            </a:r>
            <a:r>
              <a:rPr lang="en-US" altLang="ko-KR" dirty="0"/>
              <a:t>X -&gt; Y</a:t>
            </a:r>
            <a:r>
              <a:rPr lang="ko-KR" altLang="en-US" dirty="0"/>
              <a:t>의 간선으로 표현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DP[Y] : Y</a:t>
            </a:r>
            <a:r>
              <a:rPr lang="ko-KR" altLang="en-US" dirty="0"/>
              <a:t>를 짓는 데 필요한 최소 시간</a:t>
            </a:r>
            <a:endParaRPr lang="en-US" altLang="ko-KR" dirty="0"/>
          </a:p>
          <a:p>
            <a:r>
              <a:rPr lang="en-US" altLang="ko-KR" dirty="0"/>
              <a:t>DP[Y] : max( DP[X] )(</a:t>
            </a:r>
            <a:r>
              <a:rPr lang="ko-KR" altLang="en-US" dirty="0"/>
              <a:t>직전 정점들 중 최댓값</a:t>
            </a:r>
            <a:r>
              <a:rPr lang="en-US" altLang="ko-KR" dirty="0"/>
              <a:t>) + (Y </a:t>
            </a:r>
            <a:r>
              <a:rPr lang="ko-KR" altLang="en-US" dirty="0"/>
              <a:t>짓는 시간</a:t>
            </a:r>
            <a:r>
              <a:rPr lang="en-US" altLang="ko-KR" dirty="0"/>
              <a:t>)</a:t>
            </a:r>
          </a:p>
          <a:p>
            <a:endParaRPr lang="en-US" altLang="ko-KR" dirty="0"/>
          </a:p>
          <a:p>
            <a:r>
              <a:rPr lang="ko-KR" altLang="en-US" dirty="0"/>
              <a:t>위상 정렬하고 그 순서대로 </a:t>
            </a:r>
            <a:r>
              <a:rPr lang="en-US" altLang="ko-KR" dirty="0"/>
              <a:t>DP </a:t>
            </a:r>
            <a:r>
              <a:rPr lang="ko-KR" altLang="en-US" dirty="0"/>
              <a:t>테이블을 채워가기</a:t>
            </a:r>
            <a:endParaRPr lang="en-US" altLang="ko-KR" dirty="0"/>
          </a:p>
          <a:p>
            <a:pPr marL="0" indent="0">
              <a:buNone/>
            </a:pPr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3888216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15BE47-C96E-E1EB-63A8-AF69FBF2DE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AF845C7-EA09-1F11-C1D5-2EC15883CF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3316"/>
            <a:ext cx="10515600" cy="1325563"/>
          </a:xfrm>
        </p:spPr>
        <p:txBody>
          <a:bodyPr/>
          <a:lstStyle/>
          <a:p>
            <a:r>
              <a:rPr lang="en-US" altLang="ko-KR" dirty="0"/>
              <a:t>ZOAC </a:t>
            </a:r>
            <a:r>
              <a:rPr lang="ko-KR" altLang="en-US" dirty="0"/>
              <a:t>홍보 </a:t>
            </a:r>
            <a:r>
              <a:rPr lang="en-US" altLang="ko-KR" dirty="0"/>
              <a:t>Again</a:t>
            </a:r>
            <a:endParaRPr lang="ko-KR" altLang="en-US" dirty="0"/>
          </a:p>
        </p:txBody>
      </p:sp>
      <p:pic>
        <p:nvPicPr>
          <p:cNvPr id="7" name="내용 개체 틀 6" descr="텍스트, 스크린샷, 그래픽 디자인, 그래픽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2320DE95-3460-BD35-7A73-C3897E449CC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903" y="1392138"/>
            <a:ext cx="3258898" cy="460976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78FD8E47-0FB8-A1B6-F594-9197F07FCACB}"/>
              </a:ext>
            </a:extLst>
          </p:cNvPr>
          <p:cNvSpPr txBox="1"/>
          <p:nvPr/>
        </p:nvSpPr>
        <p:spPr>
          <a:xfrm>
            <a:off x="5688918" y="1392138"/>
            <a:ext cx="591598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 dirty="0"/>
              <a:t>대회 일정</a:t>
            </a:r>
            <a:endParaRPr lang="en-US" altLang="ko-KR" sz="2800" b="1" dirty="0"/>
          </a:p>
          <a:p>
            <a:pPr algn="ctr"/>
            <a:endParaRPr lang="en-US" altLang="ko-KR" sz="2800" b="1" dirty="0"/>
          </a:p>
          <a:p>
            <a:pPr algn="ctr"/>
            <a:r>
              <a:rPr lang="en-US" altLang="ko-KR" sz="2800" b="1" dirty="0"/>
              <a:t>11/15 </a:t>
            </a:r>
            <a:r>
              <a:rPr lang="ko-KR" altLang="en-US" sz="2800" b="1" dirty="0"/>
              <a:t>토요일</a:t>
            </a:r>
            <a:endParaRPr lang="en-US" altLang="ko-KR" sz="2800" b="1" dirty="0"/>
          </a:p>
          <a:p>
            <a:pPr algn="ctr"/>
            <a:r>
              <a:rPr lang="en-US" altLang="ko-KR" sz="2800" b="1" dirty="0"/>
              <a:t>13:30 ~ 16:00 (2</a:t>
            </a:r>
            <a:r>
              <a:rPr lang="ko-KR" altLang="en-US" sz="2800" b="1" dirty="0"/>
              <a:t>시간 </a:t>
            </a:r>
            <a:r>
              <a:rPr lang="en-US" altLang="ko-KR" sz="2800" b="1" dirty="0"/>
              <a:t>30</a:t>
            </a:r>
            <a:r>
              <a:rPr lang="ko-KR" altLang="en-US" sz="2800" b="1" dirty="0"/>
              <a:t>분</a:t>
            </a:r>
            <a:r>
              <a:rPr lang="en-US" altLang="ko-KR" sz="2800" b="1" dirty="0"/>
              <a:t>)</a:t>
            </a:r>
          </a:p>
          <a:p>
            <a:pPr algn="ctr"/>
            <a:endParaRPr lang="en-US" altLang="ko-KR" sz="2800" b="1" dirty="0"/>
          </a:p>
          <a:p>
            <a:pPr algn="ctr"/>
            <a:endParaRPr lang="en-US" altLang="ko-KR" sz="2800" b="1" dirty="0"/>
          </a:p>
          <a:p>
            <a:pPr algn="ctr"/>
            <a:r>
              <a:rPr lang="en-US" altLang="ko-KR" sz="2800" b="1" dirty="0"/>
              <a:t>10/29</a:t>
            </a:r>
            <a:r>
              <a:rPr lang="ko-KR" altLang="en-US" sz="2800" b="1" dirty="0"/>
              <a:t>부터 일주일간</a:t>
            </a:r>
            <a:endParaRPr lang="en-US" altLang="ko-KR" sz="2800" b="1" dirty="0"/>
          </a:p>
          <a:p>
            <a:pPr algn="ctr"/>
            <a:r>
              <a:rPr lang="ko-KR" altLang="en-US" sz="2800" b="1" dirty="0"/>
              <a:t>신청 받는다고 합니다</a:t>
            </a:r>
            <a:endParaRPr lang="en-US" altLang="ko-KR" sz="2800" b="1" dirty="0"/>
          </a:p>
          <a:p>
            <a:pPr algn="ctr"/>
            <a:endParaRPr lang="en-US" altLang="ko-KR" sz="2800" b="1" dirty="0"/>
          </a:p>
          <a:p>
            <a:pPr algn="ctr"/>
            <a:r>
              <a:rPr lang="ko-KR" altLang="en-US" sz="2800" b="1" dirty="0"/>
              <a:t>많은 관심과 신청 부탁드립니다</a:t>
            </a:r>
            <a:r>
              <a:rPr lang="en-US" altLang="ko-KR" sz="2800" b="1" dirty="0"/>
              <a:t>!!!!!!</a:t>
            </a:r>
            <a:endParaRPr lang="ko-KR" altLang="en-US" sz="2800" b="1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B402C2B-ED54-7326-1272-A21C2872C945}"/>
              </a:ext>
            </a:extLst>
          </p:cNvPr>
          <p:cNvSpPr txBox="1"/>
          <p:nvPr/>
        </p:nvSpPr>
        <p:spPr>
          <a:xfrm>
            <a:off x="1321765" y="6235103"/>
            <a:ext cx="461857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sz="1400" dirty="0">
                <a:solidFill>
                  <a:schemeClr val="bg1">
                    <a:lumMod val="85000"/>
                  </a:schemeClr>
                </a:solidFill>
              </a:rPr>
              <a:t>포스터가 이전에 만들어진 거라 달라진 정보가 있어요</a:t>
            </a:r>
            <a:r>
              <a:rPr lang="en-US" altLang="ko-KR" sz="1400" dirty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ko-KR" altLang="en-US" sz="1400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050739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76466F-7C03-7442-5D7B-BC98464791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끝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3DE55BC-BD9A-93AE-04B0-253A308A82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(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이번에도 미리 준비 안하고 직전까지 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PPT 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준비했습니다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.. </a:t>
            </a:r>
            <a:r>
              <a:rPr lang="ko-KR" altLang="en-US" dirty="0">
                <a:solidFill>
                  <a:schemeClr val="bg1">
                    <a:lumMod val="85000"/>
                  </a:schemeClr>
                </a:solidFill>
              </a:rPr>
              <a:t>죄송합니다</a:t>
            </a:r>
            <a:r>
              <a:rPr lang="en-US" altLang="ko-KR" dirty="0">
                <a:solidFill>
                  <a:schemeClr val="bg1">
                    <a:lumMod val="85000"/>
                  </a:schemeClr>
                </a:solidFill>
              </a:rPr>
              <a:t>)</a:t>
            </a:r>
            <a:endParaRPr lang="ko-KR" altLang="en-US" dirty="0">
              <a:solidFill>
                <a:schemeClr val="bg1">
                  <a:lumMod val="8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12856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445</TotalTime>
  <Words>518</Words>
  <Application>Microsoft Office PowerPoint</Application>
  <PresentationFormat>와이드스크린</PresentationFormat>
  <Paragraphs>103</Paragraphs>
  <Slides>13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13</vt:i4>
      </vt:variant>
    </vt:vector>
  </HeadingPairs>
  <TitlesOfParts>
    <vt:vector size="16" baseType="lpstr">
      <vt:lpstr>맑은 고딕</vt:lpstr>
      <vt:lpstr>Arial</vt:lpstr>
      <vt:lpstr>Office 테마</vt:lpstr>
      <vt:lpstr>그래프 DP, 위상 정렬</vt:lpstr>
      <vt:lpstr>ZOAC 홍보</vt:lpstr>
      <vt:lpstr>트리 DP</vt:lpstr>
      <vt:lpstr>BOJ 15681: 트리와 쿼리</vt:lpstr>
      <vt:lpstr>BOJ 2533: 사회망 서비스(SNS)</vt:lpstr>
      <vt:lpstr>DAG (Directed Acyclic Graph)</vt:lpstr>
      <vt:lpstr>위상 정렬</vt:lpstr>
      <vt:lpstr>위상 정렬</vt:lpstr>
      <vt:lpstr>위상 정렬</vt:lpstr>
      <vt:lpstr>위상 정렬 순서를 이용하는 DP</vt:lpstr>
      <vt:lpstr>BOJ 1005: ACM Craft</vt:lpstr>
      <vt:lpstr>ZOAC 홍보 Again</vt:lpstr>
      <vt:lpstr>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김범수</dc:creator>
  <cp:lastModifiedBy>김범수</cp:lastModifiedBy>
  <cp:revision>51</cp:revision>
  <dcterms:created xsi:type="dcterms:W3CDTF">2025-09-09T00:28:44Z</dcterms:created>
  <dcterms:modified xsi:type="dcterms:W3CDTF">2025-10-28T09:31:56Z</dcterms:modified>
</cp:coreProperties>
</file>