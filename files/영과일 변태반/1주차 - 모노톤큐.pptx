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69" r:id="rId6"/>
    <p:sldId id="259" r:id="rId7"/>
    <p:sldId id="270" r:id="rId8"/>
    <p:sldId id="261" r:id="rId9"/>
    <p:sldId id="260" r:id="rId10"/>
    <p:sldId id="265" r:id="rId11"/>
    <p:sldId id="262" r:id="rId12"/>
    <p:sldId id="271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8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계열1</c:v>
                </c:pt>
              </c:strCache>
            </c:strRef>
          </c:tx>
          <c:spPr>
            <a:solidFill>
              <a:schemeClr val="bg2"/>
            </a:solidFill>
            <a:ln w="38100">
              <a:solidFill>
                <a:schemeClr val="tx1"/>
              </a:solidFill>
            </a:ln>
            <a:effectLst/>
          </c:spPr>
          <c:invertIfNegative val="0"/>
          <c:val>
            <c:numRef>
              <c:f>Sheet1!$A$2:$A$5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7C-4FB3-84B3-598737C065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8"/>
        <c:axId val="1242367199"/>
        <c:axId val="1242368639"/>
      </c:barChart>
      <c:catAx>
        <c:axId val="1242367199"/>
        <c:scaling>
          <c:orientation val="minMax"/>
        </c:scaling>
        <c:delete val="1"/>
        <c:axPos val="b"/>
        <c:majorTickMark val="none"/>
        <c:minorTickMark val="none"/>
        <c:tickLblPos val="nextTo"/>
        <c:crossAx val="1242368639"/>
        <c:crosses val="autoZero"/>
        <c:auto val="1"/>
        <c:lblAlgn val="ctr"/>
        <c:lblOffset val="100"/>
        <c:noMultiLvlLbl val="0"/>
      </c:catAx>
      <c:valAx>
        <c:axId val="124236863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4236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631E1-2C86-48A9-BC29-4B8C153F0ED0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C2794-E031-410E-A869-ECFF5D022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5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엄밀히 말해서 슬라이드 제목도 단조 </a:t>
            </a:r>
            <a:r>
              <a:rPr lang="ko-KR" altLang="en-US" dirty="0" err="1"/>
              <a:t>덱이라고</a:t>
            </a:r>
            <a:r>
              <a:rPr lang="ko-KR" altLang="en-US" dirty="0"/>
              <a:t> 했어야 하지만 단조 큐가 더 부르기 </a:t>
            </a:r>
            <a:r>
              <a:rPr lang="ko-KR" altLang="en-US" dirty="0" err="1"/>
              <a:t>이쁘잖아요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C2794-E031-410E-A869-ECFF5D022C3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79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26426-DCDF-F91E-86EB-256E90369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106776-AFA8-5E55-F416-32C23095A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77AF9-95FD-250E-BA38-0908E877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CA0B8D-C61A-AFA8-1097-EC2F1B2F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96300-6856-FB24-21A7-108D0C52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2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0E14F-FED9-8F38-162C-DC614484E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6D798-508C-32BC-8665-73C3D1B8D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609A3-5ABA-EF35-B894-0C5DA99B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01A7B1-614F-2E8F-C288-B2A4EECE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AE6F2-CE11-03E6-94E0-22B177CB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11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8055D5-666F-F2A9-A7F4-5A064CEB8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A4F4CC-02FE-055F-F66F-7F831B6D6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238B9-B3B3-C4FF-F458-485893DB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EFC0C7-EEB3-E578-B905-548E085C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CE0C1B-E890-E00B-1AD2-CE47B381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9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D3DB1-E5D0-A3F4-E303-D1A3D1AC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E31EA-F099-8087-B311-5F6F0AC64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45BB55-17A2-491E-350F-CAE8EBC02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BBD123-CC62-5C19-DA81-D906C242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8A2BDE-FAE3-1E00-A09C-98058D37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A22D8D-BD37-D973-CBA4-70807231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11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BDBE8-BDCD-9A79-8F38-B19675E3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63634F-89CF-962F-E1FE-69219E0A4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987B63-CC1A-8888-5DC6-93D2BB1D2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C93AF3-1CFD-623C-28D2-9264C54DB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017E9A-1A95-E7C4-8BED-0CA646165B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966F41-3E81-49DD-F495-68AE762E2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33A297-A0AD-665E-2E3F-F3A236F7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3C2F97-C822-90ED-8E17-31E4DE4A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61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0FC50-02A9-6A75-551E-9F9B9467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0F0309-22EE-7625-0C71-CAA1F936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0ECCDD-1119-5800-C86A-7D3451F6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7D7D22-A8E6-03EC-5986-5833330A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4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AC05C7-BA95-22CA-E461-5B0AF89E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826299-F1AA-A6DB-EAB4-D00852A6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F0620D-C822-91FC-2D74-A9670861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6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59D97-A5C4-2E27-4FF4-2547CA4A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58AF6C-7335-5682-ACC4-CCF1B3BFB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EB05DB-1A46-2BEC-FEA7-3DF7B61B5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E019A-8548-5914-A58A-DD15C2F7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05C0D0-F409-D80F-8C3F-B0957AC4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7C14CF-B1F0-A7DE-406A-685C74AF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05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3A3B9-F24A-232E-4D74-2ACF8F96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CFED22-8EF2-8AB4-6FDC-07E58E2AF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49EA63-597B-4E33-A251-4FB5FF1EA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553046-D620-6C90-B70F-BB45F9534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905BBD-660D-7763-8B48-E45D2E78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73CCB6-290A-49DB-70A2-AE39D4E9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48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5F142-70F2-8BD5-EB23-73515AA4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2E10-A385-874D-AFAF-F291E9D69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5662A-5563-D6FD-CB2B-2C1ADF57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FA9AE0-E9C7-623E-CD1B-678B4BD8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72641-AEB7-4226-7182-A507C7C0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738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BDB01B-4E4F-4C08-358B-003875AF8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A7F0E9-A8F8-631C-69B1-97A87648B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51752-F0CB-9882-DB57-37A583A8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00D585-EF22-9EF9-E759-19ACEA5F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41EE0C-64B3-9E75-3413-6B9A1F1B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82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E117CA-E4F6-D99B-63CD-17B160E28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442388-A99A-62F1-63F3-DCC005DFE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927FA8-FDFE-AD0D-187A-31784803C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05EAD-3F64-40EE-B6B5-43819F2E2417}" type="datetimeFigureOut">
              <a:rPr lang="ko-KR" altLang="en-US" smtClean="0"/>
              <a:t>2025-09-30(Tue)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9F48AA-BB52-BE4E-3D19-0E4BF860F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0C43A-36A5-E409-184A-5A2423BBF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DB6A4-6B0C-4EFA-90F1-2EAEE7A48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02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5BF5F-64D7-EE42-913A-DCB5A0357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Monotone Queue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11CEEA-B06B-0EC8-52EA-92FB7D17B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0&amp;1</a:t>
            </a:r>
            <a:r>
              <a:rPr lang="ko-KR" altLang="en-US" dirty="0"/>
              <a:t> 스터디 </a:t>
            </a:r>
            <a:r>
              <a:rPr lang="en-US" altLang="ko-KR" dirty="0"/>
              <a:t>1</a:t>
            </a:r>
            <a:r>
              <a:rPr lang="ko-KR" altLang="en-US" dirty="0"/>
              <a:t>주차</a:t>
            </a:r>
            <a:endParaRPr lang="en-US" altLang="ko-KR" dirty="0"/>
          </a:p>
          <a:p>
            <a:r>
              <a:rPr lang="ko-KR" altLang="en-US" dirty="0"/>
              <a:t>김범수</a:t>
            </a:r>
          </a:p>
        </p:txBody>
      </p:sp>
    </p:spTree>
    <p:extLst>
      <p:ext uri="{BB962C8B-B14F-4D97-AF65-F5344CB8AC3E}">
        <p14:creationId xmlns:p14="http://schemas.microsoft.com/office/powerpoint/2010/main" val="158833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058E1-1E7F-708C-56C6-D75DEFAE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멘토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3D69E-AFCA-0D5F-1935-B4812696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인공지능학과 </a:t>
            </a:r>
            <a:r>
              <a:rPr lang="en-US" altLang="ko-KR" dirty="0"/>
              <a:t>24</a:t>
            </a:r>
            <a:r>
              <a:rPr lang="ko-KR" altLang="en-US" dirty="0"/>
              <a:t>학번 김범수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그냥 대회 참가나 문제 풀이를</a:t>
            </a:r>
            <a:endParaRPr lang="en-US" altLang="ko-KR" dirty="0"/>
          </a:p>
          <a:p>
            <a:r>
              <a:rPr lang="ko-KR" altLang="en-US" dirty="0"/>
              <a:t>많이 좋아하는 사람입니다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612C44-DE7E-779C-356C-2D4AC7499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44053"/>
            <a:ext cx="5195648" cy="313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37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C61B9-D25C-A707-5DD9-6B251A43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스터디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77A320-18E2-43A2-31DC-7D4BB6F86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solved.ac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 </a:t>
            </a:r>
            <a:r>
              <a:rPr lang="en-US" altLang="ko-KR" dirty="0"/>
              <a:t>5-6 </a:t>
            </a:r>
            <a:r>
              <a:rPr lang="ko-KR" altLang="en-US" dirty="0"/>
              <a:t>정도의 내용 소개</a:t>
            </a:r>
            <a:endParaRPr lang="en-US" altLang="ko-KR" dirty="0"/>
          </a:p>
          <a:p>
            <a:r>
              <a:rPr lang="ko-KR" altLang="en-US" dirty="0"/>
              <a:t>예시 문제 풀이</a:t>
            </a:r>
            <a:r>
              <a:rPr lang="en-US" altLang="ko-KR" dirty="0"/>
              <a:t>, </a:t>
            </a:r>
            <a:r>
              <a:rPr lang="ko-KR" altLang="en-US" dirty="0"/>
              <a:t>질의응답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스터디 커리큘럼에 기재되어 있던 내용은 변동 가능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711B64-8BE5-8B70-7ABE-682B6E14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323" y="2223336"/>
            <a:ext cx="5347411" cy="200180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61FC369-E275-407C-C7C1-75B9B87EA24F}"/>
              </a:ext>
            </a:extLst>
          </p:cNvPr>
          <p:cNvSpPr/>
          <p:nvPr/>
        </p:nvSpPr>
        <p:spPr>
          <a:xfrm>
            <a:off x="9656064" y="3328416"/>
            <a:ext cx="1448410" cy="8997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95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6FADB-77FB-D405-BCFE-C602A6C0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Monotonity</a:t>
            </a:r>
            <a:r>
              <a:rPr lang="en-US" altLang="ko-KR" dirty="0"/>
              <a:t>(</a:t>
            </a:r>
            <a:r>
              <a:rPr lang="ko-KR" altLang="en-US" dirty="0"/>
              <a:t>단조성</a:t>
            </a:r>
            <a:r>
              <a:rPr lang="en-US" altLang="ko-KR" dirty="0"/>
              <a:t>)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18C6F-CFA3-3AB6-9B2A-111A5B731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단조 증가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j</a:t>
            </a:r>
            <a:r>
              <a:rPr lang="ko-KR" altLang="en-US" dirty="0"/>
              <a:t>이면 </a:t>
            </a:r>
            <a:r>
              <a:rPr lang="en-US" altLang="ko-KR" dirty="0"/>
              <a:t>A[</a:t>
            </a:r>
            <a:r>
              <a:rPr lang="en-US" altLang="ko-KR" dirty="0" err="1"/>
              <a:t>i</a:t>
            </a:r>
            <a:r>
              <a:rPr lang="en-US" altLang="ko-KR" dirty="0"/>
              <a:t>]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A[j] </a:t>
            </a:r>
          </a:p>
          <a:p>
            <a:pPr marL="0" indent="0">
              <a:buNone/>
            </a:pPr>
            <a:r>
              <a:rPr lang="en-US" altLang="ko-KR" dirty="0"/>
              <a:t>1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1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1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2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2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3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4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7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≤</a:t>
            </a:r>
            <a:r>
              <a:rPr lang="en-US" altLang="ko-KR" dirty="0"/>
              <a:t> 9</a:t>
            </a:r>
          </a:p>
          <a:p>
            <a:endParaRPr lang="en-US" altLang="ko-KR" dirty="0"/>
          </a:p>
          <a:p>
            <a:r>
              <a:rPr lang="ko-KR" altLang="en-US" dirty="0"/>
              <a:t>단조 감소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9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en-US" altLang="ko-KR" dirty="0"/>
              <a:t> 7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en-US" altLang="ko-KR" dirty="0"/>
              <a:t> 5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en-US" altLang="ko-KR" dirty="0"/>
              <a:t> 3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en-US" altLang="ko-KR" dirty="0"/>
              <a:t> 3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en-US" altLang="ko-KR" dirty="0"/>
              <a:t> 2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en-US" altLang="ko-KR" dirty="0"/>
              <a:t> 1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≥</a:t>
            </a:r>
            <a:r>
              <a:rPr lang="en-US" altLang="ko-KR" dirty="0"/>
              <a:t>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35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4C563-A20F-6CD6-9A0D-D4220F81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그래서 단조성이 뭐가 어때서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2364C9-A5B5-1C79-8E83-2CABCF0DA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스택 </a:t>
            </a:r>
            <a:r>
              <a:rPr lang="en-US" altLang="ko-KR" dirty="0"/>
              <a:t>/ </a:t>
            </a:r>
            <a:r>
              <a:rPr lang="ko-KR" altLang="en-US" dirty="0"/>
              <a:t>큐 </a:t>
            </a:r>
            <a:r>
              <a:rPr lang="en-US" altLang="ko-KR" dirty="0"/>
              <a:t>/ </a:t>
            </a:r>
            <a:r>
              <a:rPr lang="ko-KR" altLang="en-US" dirty="0" err="1"/>
              <a:t>덱의</a:t>
            </a:r>
            <a:r>
              <a:rPr lang="ko-KR" altLang="en-US" dirty="0"/>
              <a:t> 원소를 단조성이 있게 관리하면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시간 복잡도를 줄일 수 있는 경우가 있다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024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20339-5B02-1FBF-CE3A-09C13759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17298: </a:t>
            </a:r>
            <a:r>
              <a:rPr lang="ko-KR" altLang="en-US" dirty="0" err="1"/>
              <a:t>오큰수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85CE3-2989-8871-4E2D-BF7984679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단조 스택 예시</a:t>
            </a:r>
            <a:endParaRPr lang="en-US" altLang="ko-KR" dirty="0"/>
          </a:p>
          <a:p>
            <a:r>
              <a:rPr lang="ko-KR" altLang="en-US" dirty="0"/>
              <a:t>이 수보다 오른쪽에 있는 큰 수 중 가장 왼쪽 수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BCF50C16-F2A0-EA66-7624-FFBC1A9638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850080"/>
              </p:ext>
            </p:extLst>
          </p:nvPr>
        </p:nvGraphicFramePr>
        <p:xfrm>
          <a:off x="437116" y="3154449"/>
          <a:ext cx="4475126" cy="3097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A6DC9BA-BACD-C77E-A33D-CB11ECBFD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351073"/>
              </p:ext>
            </p:extLst>
          </p:nvPr>
        </p:nvGraphicFramePr>
        <p:xfrm>
          <a:off x="625548" y="2936270"/>
          <a:ext cx="4137836" cy="572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59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1034459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1034459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1034459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</a:tblGrid>
              <a:tr h="572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B0537AF-8075-F70B-E763-DB9272A45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564892"/>
              </p:ext>
            </p:extLst>
          </p:nvPr>
        </p:nvGraphicFramePr>
        <p:xfrm>
          <a:off x="5909929" y="4751823"/>
          <a:ext cx="4137836" cy="54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59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1034459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1034459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1034459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</a:tblGrid>
              <a:tr h="540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A61BB95-F162-703B-6D0F-274592C331F5}"/>
              </a:ext>
            </a:extLst>
          </p:cNvPr>
          <p:cNvCxnSpPr/>
          <p:nvPr/>
        </p:nvCxnSpPr>
        <p:spPr>
          <a:xfrm>
            <a:off x="4260112" y="3636335"/>
            <a:ext cx="3473302" cy="0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F623AE6-E79C-1973-81FE-664020BE8B2B}"/>
              </a:ext>
            </a:extLst>
          </p:cNvPr>
          <p:cNvCxnSpPr>
            <a:cxnSpLocks/>
          </p:cNvCxnSpPr>
          <p:nvPr/>
        </p:nvCxnSpPr>
        <p:spPr>
          <a:xfrm>
            <a:off x="3175591" y="5390707"/>
            <a:ext cx="878958" cy="0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5AED5D9-1388-C9DD-E767-2C4161F77101}"/>
              </a:ext>
            </a:extLst>
          </p:cNvPr>
          <p:cNvCxnSpPr>
            <a:cxnSpLocks/>
          </p:cNvCxnSpPr>
          <p:nvPr/>
        </p:nvCxnSpPr>
        <p:spPr>
          <a:xfrm>
            <a:off x="2094615" y="4345172"/>
            <a:ext cx="1874873" cy="0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AA91A3C-D393-EC4B-4744-BD8D834E1C34}"/>
              </a:ext>
            </a:extLst>
          </p:cNvPr>
          <p:cNvCxnSpPr>
            <a:cxnSpLocks/>
          </p:cNvCxnSpPr>
          <p:nvPr/>
        </p:nvCxnSpPr>
        <p:spPr>
          <a:xfrm>
            <a:off x="999462" y="5022111"/>
            <a:ext cx="921487" cy="0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화살표: 위쪽 20">
            <a:extLst>
              <a:ext uri="{FF2B5EF4-FFF2-40B4-BE49-F238E27FC236}">
                <a16:creationId xmlns:a16="http://schemas.microsoft.com/office/drawing/2014/main" id="{2D879B80-4E28-2293-6734-26466C7C0C06}"/>
              </a:ext>
            </a:extLst>
          </p:cNvPr>
          <p:cNvSpPr/>
          <p:nvPr/>
        </p:nvSpPr>
        <p:spPr>
          <a:xfrm rot="8824456">
            <a:off x="3233775" y="5512511"/>
            <a:ext cx="597113" cy="1368785"/>
          </a:xfrm>
          <a:prstGeom prst="upArrow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24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643EF-DDCB-ECE7-BC1F-F61FF717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O(N^2) -&gt; O(N)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00116D-10A9-E725-C413-CDFFA2680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수마다 각각 반복하면서 오른쪽을 하나하나 확인할 경우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400" dirty="0"/>
              <a:t>O(N)</a:t>
            </a:r>
            <a:r>
              <a:rPr lang="ko-KR" altLang="en-US" sz="2400" dirty="0"/>
              <a:t>의 과정을 </a:t>
            </a:r>
            <a:r>
              <a:rPr lang="en-US" altLang="ko-KR" sz="2400" dirty="0"/>
              <a:t>N</a:t>
            </a:r>
            <a:r>
              <a:rPr lang="ko-KR" altLang="en-US" sz="2400" dirty="0"/>
              <a:t>개 원소에 대해 반복</a:t>
            </a:r>
            <a:r>
              <a:rPr lang="en-US" altLang="ko-KR" sz="2400" dirty="0"/>
              <a:t>, </a:t>
            </a:r>
            <a:r>
              <a:rPr lang="ko-KR" altLang="en-US" sz="2400" dirty="0"/>
              <a:t>총 </a:t>
            </a:r>
            <a:r>
              <a:rPr lang="en-US" altLang="ko-KR" sz="2400" dirty="0"/>
              <a:t>O(N^2).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스택과 단조성을 이용하면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en-US" sz="2400" dirty="0"/>
              <a:t>사이에 쓸모없는 원소들을 계속 확인하는 과정이 없어진다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전체 과정을 통틀어서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스택에 최대 </a:t>
            </a:r>
            <a:r>
              <a:rPr lang="en-US" altLang="ko-KR" sz="2400" dirty="0"/>
              <a:t>O(N)</a:t>
            </a:r>
            <a:r>
              <a:rPr lang="ko-KR" altLang="en-US" sz="2400" dirty="0"/>
              <a:t>번 원소를 넣고 빼내므로 총 </a:t>
            </a:r>
            <a:r>
              <a:rPr lang="en-US" altLang="ko-KR" sz="2400" dirty="0"/>
              <a:t>O(N).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6656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88FDF-2248-A332-1B33-DF14C74B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11003: </a:t>
            </a:r>
            <a:r>
              <a:rPr lang="ko-KR" altLang="en-US" dirty="0"/>
              <a:t>최솟값 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6CD2E-8C14-0353-426D-E94B0DEA2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수열에서 길이 </a:t>
            </a:r>
            <a:r>
              <a:rPr lang="en-US" altLang="ko-KR" dirty="0"/>
              <a:t>L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구간들의 최솟값을 모두 구하여라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0BC6D7-6ECE-2A52-D67F-C1F67D2D3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296002"/>
              </p:ext>
            </p:extLst>
          </p:nvPr>
        </p:nvGraphicFramePr>
        <p:xfrm>
          <a:off x="950487" y="2692661"/>
          <a:ext cx="1004293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94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4250995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8104064-4B0A-124A-918D-3EB3FF7CD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660408"/>
              </p:ext>
            </p:extLst>
          </p:nvPr>
        </p:nvGraphicFramePr>
        <p:xfrm>
          <a:off x="950487" y="3397103"/>
          <a:ext cx="1004293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94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4250995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1315EF8-6FCF-07E6-3CBE-161AA3D85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079352"/>
              </p:ext>
            </p:extLst>
          </p:nvPr>
        </p:nvGraphicFramePr>
        <p:xfrm>
          <a:off x="950487" y="4101545"/>
          <a:ext cx="1004293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94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4250995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9F40DB8-05E8-DDD7-0E69-991A596A3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93328"/>
              </p:ext>
            </p:extLst>
          </p:nvPr>
        </p:nvGraphicFramePr>
        <p:xfrm>
          <a:off x="950487" y="4805987"/>
          <a:ext cx="1004293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94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4250995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05372F1-4CC6-9B50-D9C6-191C2B48C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93328"/>
              </p:ext>
            </p:extLst>
          </p:nvPr>
        </p:nvGraphicFramePr>
        <p:xfrm>
          <a:off x="950487" y="5510429"/>
          <a:ext cx="1004293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94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  <a:gridCol w="912994">
                  <a:extLst>
                    <a:ext uri="{9D8B030D-6E8A-4147-A177-3AD203B41FA5}">
                      <a16:colId xmlns:a16="http://schemas.microsoft.com/office/drawing/2014/main" val="4250995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693173-43D9-76AF-265D-3603D078E14D}"/>
              </a:ext>
            </a:extLst>
          </p:cNvPr>
          <p:cNvSpPr/>
          <p:nvPr/>
        </p:nvSpPr>
        <p:spPr>
          <a:xfrm>
            <a:off x="1000106" y="2674042"/>
            <a:ext cx="3628601" cy="370840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636DA3-F0CE-9D68-BA42-162D816C8403}"/>
              </a:ext>
            </a:extLst>
          </p:cNvPr>
          <p:cNvSpPr/>
          <p:nvPr/>
        </p:nvSpPr>
        <p:spPr>
          <a:xfrm>
            <a:off x="1868431" y="3384251"/>
            <a:ext cx="3628601" cy="370840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9F870C1-34A2-6708-B14B-070015565C28}"/>
              </a:ext>
            </a:extLst>
          </p:cNvPr>
          <p:cNvSpPr/>
          <p:nvPr/>
        </p:nvSpPr>
        <p:spPr>
          <a:xfrm>
            <a:off x="3682731" y="4088693"/>
            <a:ext cx="3628601" cy="370840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C96C00F-242C-9068-5097-E0BE29C4FC3B}"/>
              </a:ext>
            </a:extLst>
          </p:cNvPr>
          <p:cNvSpPr/>
          <p:nvPr/>
        </p:nvSpPr>
        <p:spPr>
          <a:xfrm>
            <a:off x="6436563" y="4805987"/>
            <a:ext cx="3628601" cy="370840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A0892E3-3D17-E312-68FD-F92827EBEE4C}"/>
              </a:ext>
            </a:extLst>
          </p:cNvPr>
          <p:cNvSpPr/>
          <p:nvPr/>
        </p:nvSpPr>
        <p:spPr>
          <a:xfrm>
            <a:off x="7364820" y="5510429"/>
            <a:ext cx="3628601" cy="370840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FB9C8-DA96-8FB6-7911-AB523506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단조 큐</a:t>
            </a:r>
            <a:r>
              <a:rPr lang="en-US" altLang="ko-KR" sz="3600" dirty="0"/>
              <a:t>(</a:t>
            </a:r>
            <a:r>
              <a:rPr lang="ko-KR" altLang="en-US" sz="3600" dirty="0"/>
              <a:t>라고 하지만 사실 </a:t>
            </a:r>
            <a:r>
              <a:rPr lang="ko-KR" altLang="en-US" sz="3600" dirty="0" err="1"/>
              <a:t>덱</a:t>
            </a:r>
            <a:r>
              <a:rPr lang="en-US" altLang="ko-KR" sz="360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5C8BE-412E-8800-2E07-87B2710B0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74" y="1690688"/>
            <a:ext cx="10652051" cy="4908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앞서 본 그림처럼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ko-KR" altLang="en-US" sz="2400" dirty="0"/>
              <a:t>초록색 구간을 오른쪽으로 옮겨가며 최솟값 구하기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이때 구간마다 </a:t>
            </a:r>
            <a:r>
              <a:rPr lang="en-US" altLang="ko-KR" sz="2400" dirty="0"/>
              <a:t>K</a:t>
            </a:r>
            <a:r>
              <a:rPr lang="ko-KR" altLang="en-US" sz="2400" dirty="0"/>
              <a:t>개를 </a:t>
            </a:r>
            <a:r>
              <a:rPr lang="ko-KR" altLang="en-US" sz="2400" dirty="0" err="1"/>
              <a:t>일일히</a:t>
            </a:r>
            <a:r>
              <a:rPr lang="ko-KR" altLang="en-US" sz="2400" dirty="0"/>
              <a:t> 확인하면 당연하게도 </a:t>
            </a:r>
            <a:r>
              <a:rPr lang="en-US" altLang="ko-KR" sz="2400" dirty="0"/>
              <a:t>O(NK)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앞서</a:t>
            </a:r>
            <a:r>
              <a:rPr lang="en-US" altLang="ko-KR" sz="2400" dirty="0"/>
              <a:t> </a:t>
            </a:r>
            <a:r>
              <a:rPr lang="ko-KR" altLang="en-US" sz="2400" dirty="0"/>
              <a:t>본 단조 스택처럼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ko-KR" altLang="en-US" sz="2400" dirty="0"/>
              <a:t>사이에 쓸모없는 원소는 없애서 시간 복잡도를 줄이고자 한다</a:t>
            </a:r>
            <a:r>
              <a:rPr lang="en-US" altLang="ko-KR" sz="2400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그런데</a:t>
            </a:r>
            <a:r>
              <a:rPr lang="en-US" altLang="ko-KR" sz="2400" dirty="0"/>
              <a:t>, </a:t>
            </a:r>
            <a:r>
              <a:rPr lang="ko-KR" altLang="en-US" sz="2400" dirty="0"/>
              <a:t>계속 원소를 쌓기만 했던 스택과는 다르게</a:t>
            </a:r>
            <a:r>
              <a:rPr lang="en-US" altLang="ko-KR" sz="2400" dirty="0"/>
              <a:t> </a:t>
            </a:r>
          </a:p>
          <a:p>
            <a:pPr marL="0" indent="0">
              <a:buNone/>
            </a:pPr>
            <a:r>
              <a:rPr lang="ko-KR" altLang="en-US" sz="2400" dirty="0"/>
              <a:t>앞에서 구간 범위를 벗어난 값을 </a:t>
            </a:r>
            <a:r>
              <a:rPr lang="ko-KR" altLang="en-US" sz="2400" dirty="0" err="1"/>
              <a:t>빼주어야</a:t>
            </a:r>
            <a:r>
              <a:rPr lang="ko-KR" altLang="en-US" sz="2400" dirty="0"/>
              <a:t> 하기에</a:t>
            </a:r>
            <a:r>
              <a:rPr lang="en-US" altLang="ko-KR" sz="2400" dirty="0"/>
              <a:t> </a:t>
            </a:r>
            <a:r>
              <a:rPr lang="ko-KR" altLang="en-US" sz="2400" dirty="0" err="1"/>
              <a:t>덱을</a:t>
            </a:r>
            <a:r>
              <a:rPr lang="ko-KR" altLang="en-US" sz="2400" dirty="0"/>
              <a:t> 사용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967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CD600-6530-F871-E851-F72B2176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11003: </a:t>
            </a:r>
            <a:r>
              <a:rPr lang="ko-KR" altLang="en-US" dirty="0"/>
              <a:t>최솟값 찾기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C4E3341-E74A-AAC2-7812-EA12B240E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623530"/>
              </p:ext>
            </p:extLst>
          </p:nvPr>
        </p:nvGraphicFramePr>
        <p:xfrm>
          <a:off x="1358067" y="2105246"/>
          <a:ext cx="9593472" cy="45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56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8248258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47156132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</a:tblGrid>
              <a:tr h="4536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CDA5287-8DAD-57C2-22A9-FF30C3F6F893}"/>
              </a:ext>
            </a:extLst>
          </p:cNvPr>
          <p:cNvSpPr/>
          <p:nvPr/>
        </p:nvSpPr>
        <p:spPr>
          <a:xfrm>
            <a:off x="1358067" y="2105246"/>
            <a:ext cx="2420035" cy="453655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E4DE59C-EB8C-B94E-59E2-12642025A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466030"/>
              </p:ext>
            </p:extLst>
          </p:nvPr>
        </p:nvGraphicFramePr>
        <p:xfrm>
          <a:off x="1358067" y="1651589"/>
          <a:ext cx="9593472" cy="45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56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8248258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47156132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</a:tblGrid>
              <a:tr h="4536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11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</a:rPr>
                        <a:t>12</a:t>
                      </a:r>
                      <a:endParaRPr lang="ko-KR" altLang="en-US" sz="1400" b="0" dirty="0">
                        <a:ln>
                          <a:noFill/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EC2F5D3-88C4-5C5A-BF11-F1939B269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548231"/>
              </p:ext>
            </p:extLst>
          </p:nvPr>
        </p:nvGraphicFramePr>
        <p:xfrm>
          <a:off x="1358067" y="3955202"/>
          <a:ext cx="9593472" cy="436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56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8248258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47156132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</a:tblGrid>
              <a:tr h="436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81EB2C-CE53-9431-BB44-0C6F61A59602}"/>
              </a:ext>
            </a:extLst>
          </p:cNvPr>
          <p:cNvSpPr txBox="1"/>
          <p:nvPr/>
        </p:nvSpPr>
        <p:spPr>
          <a:xfrm>
            <a:off x="496433" y="2845557"/>
            <a:ext cx="11029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덱의</a:t>
            </a:r>
            <a:r>
              <a:rPr lang="ko-KR" altLang="en-US" dirty="0"/>
              <a:t> 원소가 단조 증가하도록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가 들어오는 시점에서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이 구간을 벗어나 없어져도 </a:t>
            </a:r>
            <a:r>
              <a:rPr lang="en-US" altLang="ko-KR" dirty="0"/>
              <a:t>5</a:t>
            </a:r>
            <a:r>
              <a:rPr lang="ko-KR" altLang="en-US" dirty="0"/>
              <a:t>는 최솟값이 될 일이 절대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42D1941-F401-EA83-37E3-D4217EA41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357638"/>
              </p:ext>
            </p:extLst>
          </p:nvPr>
        </p:nvGraphicFramePr>
        <p:xfrm>
          <a:off x="1358067" y="4816548"/>
          <a:ext cx="9593472" cy="45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56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8248258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47156132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</a:tblGrid>
              <a:tr h="4536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11D5E8-78AC-68A9-407A-FD231D287196}"/>
              </a:ext>
            </a:extLst>
          </p:cNvPr>
          <p:cNvSpPr/>
          <p:nvPr/>
        </p:nvSpPr>
        <p:spPr>
          <a:xfrm>
            <a:off x="2148421" y="4816548"/>
            <a:ext cx="2420035" cy="453655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1D965DD-A2DF-6DBD-C7B1-91D476009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893809"/>
              </p:ext>
            </p:extLst>
          </p:nvPr>
        </p:nvGraphicFramePr>
        <p:xfrm>
          <a:off x="1358067" y="5477012"/>
          <a:ext cx="9593472" cy="436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56">
                  <a:extLst>
                    <a:ext uri="{9D8B030D-6E8A-4147-A177-3AD203B41FA5}">
                      <a16:colId xmlns:a16="http://schemas.microsoft.com/office/drawing/2014/main" val="331109729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08843315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2514554850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90998097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57123457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9277822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82482583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466048815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803233399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762226681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1147156132"/>
                    </a:ext>
                  </a:extLst>
                </a:gridCol>
                <a:gridCol w="799456">
                  <a:extLst>
                    <a:ext uri="{9D8B030D-6E8A-4147-A177-3AD203B41FA5}">
                      <a16:colId xmlns:a16="http://schemas.microsoft.com/office/drawing/2014/main" val="3326028833"/>
                    </a:ext>
                  </a:extLst>
                </a:gridCol>
              </a:tblGrid>
              <a:tr h="4363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4682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C177E8-0715-0B38-7E25-A1652B7F722B}"/>
              </a:ext>
            </a:extLst>
          </p:cNvPr>
          <p:cNvSpPr/>
          <p:nvPr/>
        </p:nvSpPr>
        <p:spPr>
          <a:xfrm>
            <a:off x="1345340" y="5456169"/>
            <a:ext cx="803081" cy="453655"/>
          </a:xfrm>
          <a:prstGeom prst="rect">
            <a:avLst/>
          </a:prstGeom>
          <a:solidFill>
            <a:schemeClr val="bg1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18A5E1-4763-52C2-68B4-F6E18D6DBDED}"/>
              </a:ext>
            </a:extLst>
          </p:cNvPr>
          <p:cNvSpPr/>
          <p:nvPr/>
        </p:nvSpPr>
        <p:spPr>
          <a:xfrm>
            <a:off x="2161148" y="5456168"/>
            <a:ext cx="2420035" cy="453655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3F547C-254E-B661-65D4-8E21F963AA94}"/>
              </a:ext>
            </a:extLst>
          </p:cNvPr>
          <p:cNvSpPr/>
          <p:nvPr/>
        </p:nvSpPr>
        <p:spPr>
          <a:xfrm>
            <a:off x="1358067" y="3935604"/>
            <a:ext cx="2420035" cy="453655"/>
          </a:xfrm>
          <a:prstGeom prst="rect">
            <a:avLst/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E473FACA-27B8-3B46-4A75-E1E33A9DD132}"/>
              </a:ext>
            </a:extLst>
          </p:cNvPr>
          <p:cNvSpPr/>
          <p:nvPr/>
        </p:nvSpPr>
        <p:spPr>
          <a:xfrm>
            <a:off x="2402958" y="3768887"/>
            <a:ext cx="304800" cy="498313"/>
          </a:xfrm>
          <a:prstGeom prst="upArrow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980762-075B-BAB7-2982-C918090AC124}"/>
              </a:ext>
            </a:extLst>
          </p:cNvPr>
          <p:cNvSpPr txBox="1"/>
          <p:nvPr/>
        </p:nvSpPr>
        <p:spPr>
          <a:xfrm>
            <a:off x="838200" y="40180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덱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C03CFD-3610-4C8C-1628-762C39920B46}"/>
              </a:ext>
            </a:extLst>
          </p:cNvPr>
          <p:cNvSpPr txBox="1"/>
          <p:nvPr/>
        </p:nvSpPr>
        <p:spPr>
          <a:xfrm>
            <a:off x="838200" y="55440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136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3DD2F-218D-C783-B5A4-ED2716BE9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</a:t>
            </a:r>
            <a:r>
              <a:rPr lang="ko-KR" altLang="en-US" dirty="0"/>
              <a:t> 등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198EC4-677E-39BD-A42D-FB8B018D8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 err="1"/>
              <a:t>덱을</a:t>
            </a:r>
            <a:r>
              <a:rPr lang="ko-KR" altLang="en-US" dirty="0"/>
              <a:t> 이용한 구간 최댓값 트릭</a:t>
            </a:r>
            <a:r>
              <a:rPr lang="en-US" altLang="ko-KR" dirty="0"/>
              <a:t>” #deque_trick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dp</a:t>
            </a:r>
            <a:r>
              <a:rPr lang="en-US" altLang="ko-KR" dirty="0"/>
              <a:t>[</a:t>
            </a:r>
            <a:r>
              <a:rPr lang="en-US" altLang="ko-KR" dirty="0" err="1"/>
              <a:t>i</a:t>
            </a:r>
            <a:r>
              <a:rPr lang="en-US" altLang="ko-KR" dirty="0"/>
              <a:t>] = max( </a:t>
            </a:r>
            <a:r>
              <a:rPr lang="en-US" altLang="ko-KR" dirty="0" err="1"/>
              <a:t>dp</a:t>
            </a:r>
            <a:r>
              <a:rPr lang="en-US" altLang="ko-KR" dirty="0"/>
              <a:t>[ </a:t>
            </a:r>
            <a:r>
              <a:rPr lang="en-US" altLang="ko-KR" dirty="0" err="1"/>
              <a:t>i</a:t>
            </a:r>
            <a:r>
              <a:rPr lang="en-US" altLang="ko-KR" dirty="0"/>
              <a:t>-k .. i-1 ] ) + …</a:t>
            </a:r>
          </a:p>
          <a:p>
            <a:r>
              <a:rPr lang="ko-KR" altLang="en-US" dirty="0"/>
              <a:t>와 같이 점화식이 이전 </a:t>
            </a:r>
            <a:r>
              <a:rPr lang="en-US" altLang="ko-KR" dirty="0"/>
              <a:t>k</a:t>
            </a:r>
            <a:r>
              <a:rPr lang="ko-KR" altLang="en-US" dirty="0"/>
              <a:t>개 중 최댓값을 요구하는 경우 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예시 </a:t>
            </a:r>
            <a:r>
              <a:rPr lang="en-US" altLang="ko-KR" dirty="0"/>
              <a:t>- BOJ 15678: </a:t>
            </a:r>
            <a:r>
              <a:rPr lang="ko-KR" altLang="en-US" dirty="0" err="1"/>
              <a:t>연세워터파크</a:t>
            </a:r>
            <a:r>
              <a:rPr lang="ko-KR" altLang="en-US" dirty="0"/>
              <a:t> 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41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EAE4F-11C2-5652-4A3A-FAD59CFE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백준 그룹 초대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1CA5A-438A-F643-986C-28FE0470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단체톡방에</a:t>
            </a:r>
            <a:r>
              <a:rPr lang="ko-KR" altLang="en-US" dirty="0"/>
              <a:t> 본인 백준 아이디를 올려 주시면</a:t>
            </a:r>
            <a:endParaRPr lang="en-US" altLang="ko-KR" dirty="0"/>
          </a:p>
          <a:p>
            <a:r>
              <a:rPr lang="ko-KR" altLang="en-US" dirty="0"/>
              <a:t>문제집 등이 있는 그룹에 초대해 드리겠습니다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39B86C-DF53-944E-DE74-2BD2362BE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30" y="3138850"/>
            <a:ext cx="5416071" cy="324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39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AA2BF-7BBD-468E-5F71-8B26012B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마치며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451D4A-D918-0ED0-9658-935DED7DB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알고리즘 이해 안 되는 부분</a:t>
            </a:r>
            <a:r>
              <a:rPr lang="en-US" altLang="ko-KR" sz="2400" dirty="0"/>
              <a:t>, </a:t>
            </a:r>
            <a:r>
              <a:rPr lang="ko-KR" altLang="en-US" sz="2400" dirty="0"/>
              <a:t>문제 등 여러 질문들은 언제나 </a:t>
            </a:r>
            <a:r>
              <a:rPr lang="en-US" altLang="ko-KR" sz="2400" dirty="0"/>
              <a:t>OK!</a:t>
            </a:r>
          </a:p>
          <a:p>
            <a:r>
              <a:rPr lang="ko-KR" altLang="en-US" sz="2400" dirty="0"/>
              <a:t>다른 문제 풀다가 질문해도 </a:t>
            </a:r>
            <a:r>
              <a:rPr lang="en-US" altLang="ko-KR" sz="2400" dirty="0"/>
              <a:t>OK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sz="2400" dirty="0"/>
              <a:t>최대한 답변드릴 수 있도록 하겠습니다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2400" dirty="0">
                <a:solidFill>
                  <a:schemeClr val="bg1">
                    <a:lumMod val="85000"/>
                  </a:schemeClr>
                </a:solidFill>
              </a:rPr>
              <a:t>사실 인터넷이 제일 잘 알려줍니다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</a:rPr>
              <a:t>.)</a:t>
            </a:r>
            <a:endParaRPr lang="ko-KR" alt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062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472</Words>
  <Application>Microsoft Office PowerPoint</Application>
  <PresentationFormat>와이드스크린</PresentationFormat>
  <Paragraphs>131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Monotone Queue</vt:lpstr>
      <vt:lpstr>멘토 소개</vt:lpstr>
      <vt:lpstr>스터디 계획</vt:lpstr>
      <vt:lpstr>Monotonity(단조성) 이란?</vt:lpstr>
      <vt:lpstr>그래서 단조성이 뭐가 어때서?</vt:lpstr>
      <vt:lpstr>BOJ 17298: 오큰수</vt:lpstr>
      <vt:lpstr>O(N^2) -&gt; O(N)</vt:lpstr>
      <vt:lpstr>BOJ 11003: 최솟값 찾기</vt:lpstr>
      <vt:lpstr>단조 큐(라고 하지만 사실 덱)</vt:lpstr>
      <vt:lpstr>BOJ 11003: 최솟값 찾기</vt:lpstr>
      <vt:lpstr>DP 등 적용</vt:lpstr>
      <vt:lpstr>백준 그룹 초대</vt:lpstr>
      <vt:lpstr>마치며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김범수</dc:creator>
  <cp:lastModifiedBy>김범수</cp:lastModifiedBy>
  <cp:revision>54</cp:revision>
  <dcterms:created xsi:type="dcterms:W3CDTF">2025-09-09T00:27:13Z</dcterms:created>
  <dcterms:modified xsi:type="dcterms:W3CDTF">2025-09-30T09:30:21Z</dcterms:modified>
</cp:coreProperties>
</file>