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4" r:id="rId5"/>
    <p:sldId id="259" r:id="rId6"/>
    <p:sldId id="273" r:id="rId7"/>
    <p:sldId id="283" r:id="rId8"/>
    <p:sldId id="281" r:id="rId9"/>
    <p:sldId id="267" r:id="rId10"/>
    <p:sldId id="280" r:id="rId11"/>
    <p:sldId id="282" r:id="rId12"/>
    <p:sldId id="268" r:id="rId13"/>
    <p:sldId id="271" r:id="rId14"/>
    <p:sldId id="262" r:id="rId15"/>
    <p:sldId id="261" r:id="rId16"/>
    <p:sldId id="264" r:id="rId17"/>
    <p:sldId id="265" r:id="rId18"/>
    <p:sldId id="269" r:id="rId19"/>
    <p:sldId id="277" r:id="rId20"/>
    <p:sldId id="266" r:id="rId21"/>
    <p:sldId id="270" r:id="rId22"/>
    <p:sldId id="275" r:id="rId23"/>
    <p:sldId id="286" r:id="rId24"/>
    <p:sldId id="263" r:id="rId25"/>
    <p:sldId id="285" r:id="rId26"/>
    <p:sldId id="276" r:id="rId27"/>
    <p:sldId id="28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1" autoAdjust="0"/>
    <p:restoredTop sz="94660"/>
  </p:normalViewPr>
  <p:slideViewPr>
    <p:cSldViewPr snapToGrid="0">
      <p:cViewPr>
        <p:scale>
          <a:sx n="66" d="100"/>
          <a:sy n="66" d="100"/>
        </p:scale>
        <p:origin x="12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FB429-4B9C-4EFD-B988-6661FCAC4F95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E9CEF-C250-44E8-AEC5-8B5148D674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023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E9CEF-C250-44E8-AEC5-8B5148D6749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583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E9CEF-C250-44E8-AEC5-8B5148D67499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7262C-F7B4-F0C9-E115-68A067502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CDAFA3-36B7-4937-044D-C45E1F907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D86618-143A-6769-9555-F4AB95E2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D7715-3CF8-CD04-3302-D992897D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F6D070-2CAA-8EF3-301B-D72A9953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44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0D351-37C2-1516-14CB-04EE582C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EF82E0-2387-C800-6869-2585821FE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4953D-9730-302E-50B9-7A97E31F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600B12-8F60-E1C0-2AD7-36F28B7C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ED9D7A-E3D0-5355-1827-29C29FFA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1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C8A1B-496F-4854-6D57-F3D3740F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4B2CB-1FEA-6AF8-42E9-6DBF60BD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C1AA96-DEB1-7D0C-E1DD-B49A04DB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F5634-63AB-8297-9DE0-24DC7CF0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8FB3E-7565-1E5C-C886-3476CAD4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38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1D1F0-23E8-E327-59A7-DE5E527B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1F2DB4-2ACB-55E2-402A-C28E53D6B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4C480-AF55-DBAE-762B-08936040C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3DDA45-7B0E-AA4F-2FB2-1E725CCB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54E519-E08E-0A1C-66CD-38A57970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C6CAE6-A3DE-CC3A-3161-29454544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68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58924-4022-BA42-ED28-6CB3206A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01F718-EA63-D682-E2BC-1F58CE12C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BA43EA-E0FB-8F4B-47B3-4674C19DA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752967-AA3C-BF6B-5597-45103DDF2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F1BA38-7778-0A51-3733-E0992CE3A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5B75ED-D809-4DD3-DC42-46267A7B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0ECECF-C624-84DF-D645-07D94714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01E632-6D5A-A30F-45F2-8A7D598F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01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4836D-5AFE-613B-0C53-558F5457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13146B-CA3C-D239-7EAF-7FCBB31F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5F5C6A-252A-F902-C592-C6712EE9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3D7DA1-29CD-A9D7-5D02-E94C52BF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8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C42A71-B781-EEF3-D753-80745A9A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CC1CDF-5127-6000-8EDE-E22D2806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3BF1AB-85C0-0E30-5235-37C53C6C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08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62229-61D6-DE07-4872-BFCB8C24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91C08-FDC0-76D7-E324-FE7C2145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8AEE2-8651-448B-7C22-0F2F5CAD8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D34844-1DDD-A0BA-5CBC-514176E7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CDE115-A5B2-96E8-CB45-857A6C1D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6C76C-7D0F-CCC0-5235-CED3B33A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4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0362C-747D-86FF-9274-89308B5C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A348F4-D5FC-B5B2-2025-87D507DA4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A92BCA-525A-0B38-0D53-E91C3225C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603353-85BB-6F95-5B92-244480BB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592440-0E8D-6C8D-0622-84880E0E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6843-50DA-3041-1CB3-B10B07C7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08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881DC-8E02-C629-F307-E8A4B286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2C6CDF-45E3-9D5D-DBD7-7C37CBC30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7E790-0117-3E26-AF3C-F214B66B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B63EB-4245-1BBF-639C-D1F0F4F6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D5C44-14A6-89A5-A24A-65A3C828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87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44168C-C2CC-2A93-4D87-0DF9F5762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EDD7BE-A994-7463-C0C6-67B739C74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C29B52-4FA8-D1C8-28B8-7FB8BCD2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8B007-DA39-5EEC-B0E3-48164263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E000EA-E65A-B6AE-3F82-A1B0B159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888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689FAC-549A-9EBC-3A0F-22E8E694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DCEC90-B1EC-96E4-27F0-A213534F6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41CE62-5407-8C59-05F3-DD9D0BF15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72BB2-5EF1-44BF-BBDF-A1E455618959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468983-BCEF-4CFB-3D51-106147CCE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4C6DF-2525-DA1F-82B5-09E132C12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79B39-59EA-4998-B3AB-1E5A7EE81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51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B898D-0A71-49DE-CED7-28533ADEB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Segment Tree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69557E-3242-D669-2D6C-2046E66DC0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</a:t>
            </a:r>
            <a:r>
              <a:rPr lang="ko-KR" altLang="en-US" dirty="0"/>
              <a:t> 스터디 </a:t>
            </a:r>
            <a:r>
              <a:rPr lang="en-US" altLang="ko-KR" dirty="0"/>
              <a:t>3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418612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2D2EF-FDAF-405C-B663-C24424B3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누적합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FC80F-02D8-65F0-BD99-E0FB8D1A3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길이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수열에서 다음 쿼리를 많이 처리해야 하는 상황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l r : l</a:t>
            </a:r>
            <a:r>
              <a:rPr lang="ko-KR" altLang="en-US" dirty="0" err="1">
                <a:latin typeface="Consolas" panose="020B0609020204030204" pitchFamily="49" charset="0"/>
              </a:rPr>
              <a:t>번째부터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r</a:t>
            </a:r>
            <a:r>
              <a:rPr lang="ko-KR" altLang="en-US" dirty="0">
                <a:latin typeface="+mn-ea"/>
              </a:rPr>
              <a:t>번째 원소까지의 합을 출력</a:t>
            </a:r>
            <a:r>
              <a:rPr lang="en-US" altLang="ko-KR" dirty="0"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으로 누적합을 </a:t>
            </a:r>
            <a:r>
              <a:rPr lang="ko-KR" altLang="en-US" dirty="0" err="1">
                <a:latin typeface="+mn-ea"/>
              </a:rPr>
              <a:t>전처리하면</a:t>
            </a:r>
            <a:r>
              <a:rPr lang="ko-KR" altLang="en-US" dirty="0">
                <a:latin typeface="+mn-ea"/>
              </a:rPr>
              <a:t> 쿼리 당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로 처리 가능</a:t>
            </a:r>
            <a:r>
              <a:rPr lang="en-US" altLang="ko-KR" dirty="0"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</a:rPr>
              <a:t>총 시간 복잡도는 </a:t>
            </a:r>
            <a:r>
              <a:rPr lang="en-US" altLang="ko-KR" dirty="0">
                <a:latin typeface="+mn-ea"/>
              </a:rPr>
              <a:t>O(N + Q).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599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E24D9-455B-A84A-8695-170F1AAA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 쿼리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2CBCDC-622C-5916-F509-0A15AFCE6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Consolas" panose="020B0609020204030204" pitchFamily="49" charset="0"/>
                <a:ea typeface="+mj-ea"/>
              </a:rPr>
              <a:t>1 </a:t>
            </a:r>
            <a:r>
              <a:rPr lang="en-US" altLang="ko-KR" dirty="0" err="1">
                <a:latin typeface="Consolas" panose="020B0609020204030204" pitchFamily="49" charset="0"/>
                <a:ea typeface="+mj-ea"/>
              </a:rPr>
              <a:t>i</a:t>
            </a:r>
            <a:r>
              <a:rPr lang="en-US" altLang="ko-KR" dirty="0">
                <a:latin typeface="Consolas" panose="020B0609020204030204" pitchFamily="49" charset="0"/>
                <a:ea typeface="+mj-ea"/>
              </a:rPr>
              <a:t> v : </a:t>
            </a:r>
            <a:r>
              <a:rPr lang="en-US" altLang="ko-KR" dirty="0" err="1">
                <a:latin typeface="Consolas" panose="020B0609020204030204" pitchFamily="49" charset="0"/>
                <a:ea typeface="+mj-ea"/>
              </a:rPr>
              <a:t>i</a:t>
            </a:r>
            <a:r>
              <a:rPr lang="ko-KR" altLang="en-US" dirty="0">
                <a:latin typeface="Consolas" panose="020B0609020204030204" pitchFamily="49" charset="0"/>
                <a:ea typeface="+mj-ea"/>
              </a:rPr>
              <a:t>번째 원소를 </a:t>
            </a:r>
            <a:r>
              <a:rPr lang="en-US" altLang="ko-KR" dirty="0">
                <a:latin typeface="Consolas" panose="020B0609020204030204" pitchFamily="49" charset="0"/>
                <a:ea typeface="+mj-ea"/>
              </a:rPr>
              <a:t>v</a:t>
            </a:r>
            <a:r>
              <a:rPr lang="ko-KR" altLang="en-US" dirty="0">
                <a:latin typeface="+mj-ea"/>
                <a:ea typeface="+mj-ea"/>
              </a:rPr>
              <a:t>로 바꾼다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Consolas" panose="020B0609020204030204" pitchFamily="49" charset="0"/>
                <a:ea typeface="+mj-ea"/>
              </a:rPr>
              <a:t>2 l r : l</a:t>
            </a:r>
            <a:r>
              <a:rPr lang="ko-KR" altLang="en-US" dirty="0" err="1">
                <a:latin typeface="Consolas" panose="020B0609020204030204" pitchFamily="49" charset="0"/>
                <a:ea typeface="+mj-ea"/>
              </a:rPr>
              <a:t>번째부터</a:t>
            </a:r>
            <a:r>
              <a:rPr lang="ko-KR" altLang="en-US" dirty="0">
                <a:latin typeface="Consolas" panose="020B0609020204030204" pitchFamily="49" charset="0"/>
                <a:ea typeface="+mj-ea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+mj-ea"/>
              </a:rPr>
              <a:t>r</a:t>
            </a:r>
            <a:r>
              <a:rPr lang="ko-KR" altLang="en-US" dirty="0">
                <a:latin typeface="+mj-ea"/>
                <a:ea typeface="+mj-ea"/>
              </a:rPr>
              <a:t>번째 원소까지의 합을 출력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dirty="0">
                <a:latin typeface="+mj-ea"/>
                <a:ea typeface="+mj-ea"/>
              </a:rPr>
              <a:t>업데이트를 한번 할 때마다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err="1">
                <a:latin typeface="+mj-ea"/>
                <a:ea typeface="+mj-ea"/>
              </a:rPr>
              <a:t>i</a:t>
            </a:r>
            <a:r>
              <a:rPr lang="ko-KR" altLang="en-US" dirty="0">
                <a:latin typeface="+mj-ea"/>
                <a:ea typeface="+mj-ea"/>
              </a:rPr>
              <a:t>번째 원소 뒤로는 합이 바뀌어서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dirty="0">
                <a:latin typeface="+mj-ea"/>
                <a:ea typeface="+mj-ea"/>
              </a:rPr>
              <a:t>누적합을 다시 구성해 주어야 한다</a:t>
            </a:r>
            <a:r>
              <a:rPr lang="en-US" altLang="ko-KR" dirty="0">
                <a:latin typeface="+mj-ea"/>
                <a:ea typeface="+mj-ea"/>
              </a:rPr>
              <a:t>. [ O(N) ]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dirty="0">
                <a:latin typeface="+mj-ea"/>
                <a:ea typeface="+mj-ea"/>
              </a:rPr>
              <a:t>이 연산을 반복하면 결과적으로 총 시간 복잡도가 </a:t>
            </a:r>
            <a:r>
              <a:rPr lang="en-US" altLang="ko-KR" dirty="0">
                <a:latin typeface="+mj-ea"/>
                <a:ea typeface="+mj-ea"/>
              </a:rPr>
              <a:t>O(NQ)</a:t>
            </a:r>
            <a:r>
              <a:rPr lang="ko-KR" altLang="en-US" dirty="0">
                <a:latin typeface="+mj-ea"/>
                <a:ea typeface="+mj-ea"/>
              </a:rPr>
              <a:t>가 되어 버린다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41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DA117-582B-1D34-E0CC-075873A5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세그먼트 트리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D156-59A1-3B26-CC11-BB9F2164A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9" y="1825625"/>
            <a:ext cx="11041566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업데이트</a:t>
            </a:r>
            <a:r>
              <a:rPr lang="en-US" altLang="ko-KR" sz="2400" dirty="0"/>
              <a:t>, </a:t>
            </a:r>
            <a:r>
              <a:rPr lang="ko-KR" altLang="en-US" sz="2400" dirty="0"/>
              <a:t>구간 합 모두 빠르게 처리할 수 있는 방법</a:t>
            </a:r>
            <a:r>
              <a:rPr lang="en-US" altLang="ko-KR" sz="2400" dirty="0"/>
              <a:t>?</a:t>
            </a:r>
          </a:p>
          <a:p>
            <a:endParaRPr lang="en-US" altLang="ko-KR" sz="2400" dirty="0"/>
          </a:p>
          <a:p>
            <a:r>
              <a:rPr lang="ko-KR" altLang="en-US" sz="2400" dirty="0"/>
              <a:t>구간을 절반씩 나눠가며</a:t>
            </a:r>
            <a:r>
              <a:rPr lang="en-US" altLang="ko-KR" sz="2400" dirty="0"/>
              <a:t>, </a:t>
            </a:r>
            <a:r>
              <a:rPr lang="ko-KR" altLang="en-US" sz="2400" dirty="0"/>
              <a:t>이 과정을 모두 이진 트리에</a:t>
            </a:r>
            <a:r>
              <a:rPr lang="en-US" altLang="ko-KR" sz="2400" dirty="0"/>
              <a:t> </a:t>
            </a:r>
            <a:r>
              <a:rPr lang="ko-KR" altLang="en-US" sz="2400" dirty="0"/>
              <a:t>각 하나의 노드로 저장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76528F-E8AC-BE96-5ADD-D809402224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264762"/>
            <a:ext cx="12192000" cy="345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5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9E4D5-CB40-62C6-D3F7-8534280BB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세그먼트 트리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36A9A71-7031-AA0D-937F-53EEB5DED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637616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1E425192-969D-8F7F-45CD-0079C3D48A0A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B81CF2-B8A9-53BF-2BDD-9659B7962ADE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CE3FE8-29EF-8299-3538-05E6C5327DB9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27CC59-AF80-DA95-0FEA-D91FB521C2CD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83256A-3596-429C-43F5-96C43A8636E7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C8079D-1F0A-D6BC-9F40-674ACFE1B299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D1817A-7AD4-9436-6E4A-86283E786C0B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C895F1-9200-4AE2-4CB0-C209394A2788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FDE0C7-FA9D-6B25-632D-503FEB451BF3}"/>
              </a:ext>
            </a:extLst>
          </p:cNvPr>
          <p:cNvSpPr/>
          <p:nvPr/>
        </p:nvSpPr>
        <p:spPr>
          <a:xfrm>
            <a:off x="1747283" y="358989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CCE0A1-14FA-EB70-C414-6C01234A318E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BFE8B7-5180-0A09-854D-735960F24EDD}"/>
              </a:ext>
            </a:extLst>
          </p:cNvPr>
          <p:cNvSpPr/>
          <p:nvPr/>
        </p:nvSpPr>
        <p:spPr>
          <a:xfrm>
            <a:off x="6934788" y="3528443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E4EF2B-E2A1-4E1F-9FC1-4EE6C0D92446}"/>
              </a:ext>
            </a:extLst>
          </p:cNvPr>
          <p:cNvSpPr/>
          <p:nvPr/>
        </p:nvSpPr>
        <p:spPr>
          <a:xfrm>
            <a:off x="9544493" y="3528443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1E9CFB-9FBA-FBFA-A3EE-9F7888120B00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5BA7DC-8E1E-1954-B75E-C7C7C051FD08}"/>
              </a:ext>
            </a:extLst>
          </p:cNvPr>
          <p:cNvSpPr/>
          <p:nvPr/>
        </p:nvSpPr>
        <p:spPr>
          <a:xfrm>
            <a:off x="8307577" y="2394152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9428CB-9B95-4430-C6A1-4C204ABD95BF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8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00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4621-6C1F-71B2-0154-CB047978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DC300-3B16-4777-B2E3-0B5E0437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세그먼트 트리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2DA627F-10E4-98B5-98F0-266B62B1CC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420338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1FDE5BD-947C-C18E-1E5B-757D584AAB76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DA76B0-C1C0-5CD5-D57F-2A1DB4E8087A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A30D19-DCBB-FFD3-B43B-3EFBCE6455C8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576D4-8074-4590-F03F-46A22B47D4F2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7E15F7-F619-86F4-7110-130C7B880DCF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5A44FF-AF51-6516-EDE5-9A2BFF179FE2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87B2E9-7697-4E4C-9199-89B898E64204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E5A7E5-EFB3-3007-2B48-532130CB47D7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0B2D00-B124-D938-1B80-585251D490EA}"/>
              </a:ext>
            </a:extLst>
          </p:cNvPr>
          <p:cNvSpPr/>
          <p:nvPr/>
        </p:nvSpPr>
        <p:spPr>
          <a:xfrm>
            <a:off x="1747283" y="358989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5553E0-F6E2-E578-904A-649425AFAE20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C4C77C-7B50-1387-21AF-1588C6B8ED64}"/>
              </a:ext>
            </a:extLst>
          </p:cNvPr>
          <p:cNvSpPr/>
          <p:nvPr/>
        </p:nvSpPr>
        <p:spPr>
          <a:xfrm>
            <a:off x="6927531" y="3545404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368ED5-E4CF-CC99-1922-F8E49D1B7F24}"/>
              </a:ext>
            </a:extLst>
          </p:cNvPr>
          <p:cNvSpPr/>
          <p:nvPr/>
        </p:nvSpPr>
        <p:spPr>
          <a:xfrm>
            <a:off x="9567890" y="3567648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FD13CC-AC5D-4DE3-044B-6A9FE6A0EEC1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96AF59-70A8-11B3-78EF-763680E3B54C}"/>
              </a:ext>
            </a:extLst>
          </p:cNvPr>
          <p:cNvSpPr/>
          <p:nvPr/>
        </p:nvSpPr>
        <p:spPr>
          <a:xfrm>
            <a:off x="8169345" y="2435704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96D2F0-AFAA-E796-9988-0B87ABBF8C82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36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08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E6B9-C519-5F52-1672-714EF258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ACDDC-1452-2608-E1D4-25B0F1BE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세그먼트 트리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34749EB-F45C-29FD-E6F9-EE75D22BF5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599658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1095A948-3651-BC03-1D50-655617CD1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189488"/>
              </p:ext>
            </p:extLst>
          </p:nvPr>
        </p:nvGraphicFramePr>
        <p:xfrm>
          <a:off x="838200" y="3523378"/>
          <a:ext cx="10515600" cy="819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</a:tblGrid>
              <a:tr h="819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18754D9-76BF-2B5E-390D-C523A2E17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867569"/>
              </p:ext>
            </p:extLst>
          </p:nvPr>
        </p:nvGraphicFramePr>
        <p:xfrm>
          <a:off x="838200" y="2480233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00E3183B-48A3-3338-39A9-8C84834CF1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388478"/>
              </p:ext>
            </p:extLst>
          </p:nvPr>
        </p:nvGraphicFramePr>
        <p:xfrm>
          <a:off x="838200" y="1404799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3" name="내용 개체 틀 3">
            <a:extLst>
              <a:ext uri="{FF2B5EF4-FFF2-40B4-BE49-F238E27FC236}">
                <a16:creationId xmlns:a16="http://schemas.microsoft.com/office/drawing/2014/main" id="{C15229F1-0C8A-7F8D-4020-BB9C5460BC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111867"/>
              </p:ext>
            </p:extLst>
          </p:nvPr>
        </p:nvGraphicFramePr>
        <p:xfrm>
          <a:off x="838200" y="4677936"/>
          <a:ext cx="10515600" cy="845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8452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040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C03A-CBB6-6055-1195-62E0CD5B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0ED94-00B5-1DAC-1314-A7AE28BB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6D68268-11EE-50CC-AAF0-B43C53220B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8C019ED-2AD3-4CD8-4104-5D81908F6D2A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C306D1-5727-B730-3AB1-E5755CA098B9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875D81-DA5F-1747-E461-24BA67B760EC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0A7247-C5FB-D147-5544-46B503B77D65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D9FCF3-2781-F048-2D97-841FE7926DB5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D15576-EC28-DFAD-F1AE-9EA6FCA9096E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59F608-B575-0156-6B43-9B1B5B024FDC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9D215C-3C45-5907-3AEE-BFC25002AECD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0FB122-DE38-AF03-D49B-1454E4D1EB21}"/>
              </a:ext>
            </a:extLst>
          </p:cNvPr>
          <p:cNvSpPr/>
          <p:nvPr/>
        </p:nvSpPr>
        <p:spPr>
          <a:xfrm>
            <a:off x="1747283" y="358989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AB44BE-AC64-D89C-F17C-9CC8DC22C185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A2B690-07F4-F447-CEE4-E2C5206EDE5A}"/>
              </a:ext>
            </a:extLst>
          </p:cNvPr>
          <p:cNvSpPr/>
          <p:nvPr/>
        </p:nvSpPr>
        <p:spPr>
          <a:xfrm>
            <a:off x="6971414" y="3513984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03954A-243B-608F-8E06-003747E64323}"/>
              </a:ext>
            </a:extLst>
          </p:cNvPr>
          <p:cNvSpPr/>
          <p:nvPr/>
        </p:nvSpPr>
        <p:spPr>
          <a:xfrm>
            <a:off x="9544493" y="3528443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8E2F1E-C980-32C4-C8AD-426947D0B0CC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0DA47C-A580-007F-D31E-91DE0AE555E2}"/>
              </a:ext>
            </a:extLst>
          </p:cNvPr>
          <p:cNvSpPr/>
          <p:nvPr/>
        </p:nvSpPr>
        <p:spPr>
          <a:xfrm>
            <a:off x="8241916" y="2435704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78ED54-FBCF-B8DA-0739-B597504F3E51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18074C-72E8-824C-7BAB-FC67A1B5338D}"/>
              </a:ext>
            </a:extLst>
          </p:cNvPr>
          <p:cNvSpPr/>
          <p:nvPr/>
        </p:nvSpPr>
        <p:spPr>
          <a:xfrm>
            <a:off x="7421526" y="6064471"/>
            <a:ext cx="1325525" cy="37084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21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5AEF-4B87-E15C-08CE-FF5CC092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CE8D6-59B9-3FB1-EDE4-8BA8BC40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72D1CBA-953C-9C72-BF39-EBA993098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674564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A78068-60EB-EF87-0BB1-92C75B5CD304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 </a:t>
            </a:r>
            <a:r>
              <a:rPr lang="ko-KR" altLang="en-US" dirty="0">
                <a:solidFill>
                  <a:schemeClr val="tx1"/>
                </a:solidFill>
              </a:rPr>
              <a:t>→</a:t>
            </a:r>
            <a:r>
              <a:rPr lang="en-US" altLang="ko-KR" dirty="0">
                <a:solidFill>
                  <a:schemeClr val="tx1"/>
                </a:solidFill>
              </a:rPr>
              <a:t> 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3490C4-8B17-55A5-D72E-78B22EA7FD23}"/>
              </a:ext>
            </a:extLst>
          </p:cNvPr>
          <p:cNvSpPr/>
          <p:nvPr/>
        </p:nvSpPr>
        <p:spPr>
          <a:xfrm>
            <a:off x="6857997" y="3509446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 </a:t>
            </a:r>
            <a:r>
              <a:rPr lang="ko-KR" altLang="en-US" dirty="0">
                <a:solidFill>
                  <a:schemeClr val="tx1"/>
                </a:solidFill>
              </a:rPr>
              <a:t>→</a:t>
            </a:r>
            <a:r>
              <a:rPr lang="en-US" altLang="ko-KR" dirty="0">
                <a:solidFill>
                  <a:schemeClr val="tx1"/>
                </a:solidFill>
              </a:rPr>
              <a:t> 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9E20AC-652A-2F1A-8DFA-EF60E0142A9D}"/>
              </a:ext>
            </a:extLst>
          </p:cNvPr>
          <p:cNvSpPr/>
          <p:nvPr/>
        </p:nvSpPr>
        <p:spPr>
          <a:xfrm>
            <a:off x="8206516" y="2400101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21 </a:t>
            </a:r>
            <a:r>
              <a:rPr lang="ko-KR" altLang="en-US" dirty="0">
                <a:solidFill>
                  <a:schemeClr val="tx1"/>
                </a:solidFill>
              </a:rPr>
              <a:t>→</a:t>
            </a:r>
            <a:r>
              <a:rPr lang="en-US" altLang="ko-KR" dirty="0">
                <a:solidFill>
                  <a:schemeClr val="tx1"/>
                </a:solidFill>
              </a:rPr>
              <a:t> 25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B4A5CA-A070-097B-4216-DB5009C3ACD3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36 </a:t>
            </a:r>
            <a:r>
              <a:rPr lang="ko-KR" altLang="en-US" dirty="0">
                <a:solidFill>
                  <a:schemeClr val="tx1"/>
                </a:solidFill>
              </a:rPr>
              <a:t>→</a:t>
            </a:r>
            <a:r>
              <a:rPr lang="en-US" altLang="ko-KR" dirty="0">
                <a:solidFill>
                  <a:schemeClr val="tx1"/>
                </a:solidFill>
              </a:rPr>
              <a:t> 40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D5752C-04C4-8C04-2386-CE388A5F1A62}"/>
              </a:ext>
            </a:extLst>
          </p:cNvPr>
          <p:cNvSpPr/>
          <p:nvPr/>
        </p:nvSpPr>
        <p:spPr>
          <a:xfrm>
            <a:off x="7421526" y="6064471"/>
            <a:ext cx="1325525" cy="37084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E2BD3AD-9BF8-A935-890D-32876ECF8F3B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4F3EE49-8D14-2DFB-FE2D-7109A492A857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7FC06F-DB19-B6D5-F2E0-4FB67ED6A7F0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FF6AFD-C59A-7F59-76D6-4A021D9D4ADB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FA1E8CE-C745-D5A8-5DC6-37E824D05C31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D538DAF-D8AB-A48B-4851-6BD38DCC950B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72E6EA6-472E-7111-A322-5A609641FEA9}"/>
              </a:ext>
            </a:extLst>
          </p:cNvPr>
          <p:cNvSpPr/>
          <p:nvPr/>
        </p:nvSpPr>
        <p:spPr>
          <a:xfrm>
            <a:off x="1747283" y="358989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94D2911-11FB-4AE2-FB47-249352D0F8B6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4B056E-A2AC-851D-8266-E1AC971A17E9}"/>
              </a:ext>
            </a:extLst>
          </p:cNvPr>
          <p:cNvSpPr/>
          <p:nvPr/>
        </p:nvSpPr>
        <p:spPr>
          <a:xfrm>
            <a:off x="9567890" y="3567648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DD47340-05B2-AF18-C5D7-2B79615A4189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89AE7F7-A453-D11E-CD52-68482D8D75C9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6C2D-4494-57C1-6B2D-0EADEC5D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D1BB1-AA69-E796-A10C-CED7426B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38FADA1-5FB7-2119-1E06-D74074B0B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110428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93F8224-BD53-6D4E-993D-3625B1380F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5367501"/>
              </p:ext>
            </p:extLst>
          </p:nvPr>
        </p:nvGraphicFramePr>
        <p:xfrm>
          <a:off x="838200" y="3523378"/>
          <a:ext cx="10515600" cy="819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</a:tblGrid>
              <a:tr h="819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2E7ECA-3F8E-96AA-7095-EC0CBB4BD3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876217"/>
              </p:ext>
            </p:extLst>
          </p:nvPr>
        </p:nvGraphicFramePr>
        <p:xfrm>
          <a:off x="838200" y="2480233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1CAB3CCD-F664-970C-AADB-7CF7517845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224467"/>
              </p:ext>
            </p:extLst>
          </p:nvPr>
        </p:nvGraphicFramePr>
        <p:xfrm>
          <a:off x="838200" y="1404799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36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40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3" name="내용 개체 틀 3">
            <a:extLst>
              <a:ext uri="{FF2B5EF4-FFF2-40B4-BE49-F238E27FC236}">
                <a16:creationId xmlns:a16="http://schemas.microsoft.com/office/drawing/2014/main" id="{145EA525-9C0F-09D3-9DBD-08CC6FC23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9271462"/>
              </p:ext>
            </p:extLst>
          </p:nvPr>
        </p:nvGraphicFramePr>
        <p:xfrm>
          <a:off x="838200" y="4677936"/>
          <a:ext cx="10515600" cy="845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8452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 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3103904-6219-415B-8435-E0B3AD14F3A9}"/>
              </a:ext>
            </a:extLst>
          </p:cNvPr>
          <p:cNvSpPr/>
          <p:nvPr/>
        </p:nvSpPr>
        <p:spPr>
          <a:xfrm>
            <a:off x="7421526" y="6064471"/>
            <a:ext cx="1325525" cy="37084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8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AA95-A569-51AE-85E1-C64BF6A8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9B366-B682-0A5C-875D-1B37A2BA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쿼리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F4377DB-934D-E9C2-6A23-A11E816CD4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67BA461-A91F-1FFF-E13F-881261DFAAB9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A1A180-379D-1026-6583-C07F4A8759E4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D78851-A60F-5F9F-84B4-B879FDA975E7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B16190-56BD-81C7-124A-CE685C6ABA9F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36805F-3EC7-671E-038F-27419085DA55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135310-4F02-4DA1-2EA5-8C672A3A81DB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A7958D-CE84-BBDD-3D7F-53767885B854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E37067-54FB-09ED-C7E3-21242A30BE06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B07D31-64CD-66CC-0FB4-5FFF9C57C80E}"/>
              </a:ext>
            </a:extLst>
          </p:cNvPr>
          <p:cNvSpPr/>
          <p:nvPr/>
        </p:nvSpPr>
        <p:spPr>
          <a:xfrm>
            <a:off x="1747283" y="358989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DBBDBF-2D0A-3577-2FB9-5D1702D5224C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33717B-E823-985B-3CB5-16116E0968FB}"/>
              </a:ext>
            </a:extLst>
          </p:cNvPr>
          <p:cNvSpPr/>
          <p:nvPr/>
        </p:nvSpPr>
        <p:spPr>
          <a:xfrm>
            <a:off x="6934788" y="3528443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C43B3F-EC51-AF1D-CE11-05F16EE319A3}"/>
              </a:ext>
            </a:extLst>
          </p:cNvPr>
          <p:cNvSpPr/>
          <p:nvPr/>
        </p:nvSpPr>
        <p:spPr>
          <a:xfrm>
            <a:off x="9544493" y="3528443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29C4CB-0B24-3432-002C-FC8FA225CF23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D5F092-EB73-1351-3E28-69585F31B879}"/>
              </a:ext>
            </a:extLst>
          </p:cNvPr>
          <p:cNvSpPr/>
          <p:nvPr/>
        </p:nvSpPr>
        <p:spPr>
          <a:xfrm>
            <a:off x="8241916" y="2435704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DBCB6A-DFFB-F68A-B540-0C925057334D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 ~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DBEA68-E74C-AF86-0E63-C827DB57F1DC}"/>
              </a:ext>
            </a:extLst>
          </p:cNvPr>
          <p:cNvSpPr/>
          <p:nvPr/>
        </p:nvSpPr>
        <p:spPr>
          <a:xfrm>
            <a:off x="838201" y="6064471"/>
            <a:ext cx="9198934" cy="37084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54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0F1F-BF9D-A7FD-5505-A1BD1FDE6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51D02-3905-42D1-2557-1C256DA3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쿼리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26003AD-A71A-1290-B102-21128532C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755165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00BB47B-A381-C225-FF51-7A46A4D6E0E3}"/>
              </a:ext>
            </a:extLst>
          </p:cNvPr>
          <p:cNvSpPr/>
          <p:nvPr/>
        </p:nvSpPr>
        <p:spPr>
          <a:xfrm>
            <a:off x="838201" y="6064471"/>
            <a:ext cx="9198934" cy="37084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3F66C9-E1CE-7E78-08D1-B837349FEAFF}"/>
              </a:ext>
            </a:extLst>
          </p:cNvPr>
          <p:cNvSpPr/>
          <p:nvPr/>
        </p:nvSpPr>
        <p:spPr>
          <a:xfrm>
            <a:off x="759518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0046DF-8724-E0B8-02C4-7AB21D357012}"/>
              </a:ext>
            </a:extLst>
          </p:cNvPr>
          <p:cNvSpPr/>
          <p:nvPr/>
        </p:nvSpPr>
        <p:spPr>
          <a:xfrm>
            <a:off x="6930076" y="3500917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9228A0-61E0-641B-82D8-8BC515FD39E3}"/>
              </a:ext>
            </a:extLst>
          </p:cNvPr>
          <p:cNvSpPr/>
          <p:nvPr/>
        </p:nvSpPr>
        <p:spPr>
          <a:xfrm>
            <a:off x="8206516" y="2400101"/>
            <a:ext cx="900224" cy="86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521683-9BDF-5026-0B2A-349A36CA0680}"/>
              </a:ext>
            </a:extLst>
          </p:cNvPr>
          <p:cNvSpPr/>
          <p:nvPr/>
        </p:nvSpPr>
        <p:spPr>
          <a:xfrm>
            <a:off x="5645888" y="1363108"/>
            <a:ext cx="900224" cy="86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ED2F16-B6F4-B632-D191-DA25DE62DA55}"/>
              </a:ext>
            </a:extLst>
          </p:cNvPr>
          <p:cNvSpPr/>
          <p:nvPr/>
        </p:nvSpPr>
        <p:spPr>
          <a:xfrm>
            <a:off x="1056167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7D1839-9D2E-1B5A-ED3D-7DB7A4E07B62}"/>
              </a:ext>
            </a:extLst>
          </p:cNvPr>
          <p:cNvSpPr/>
          <p:nvPr/>
        </p:nvSpPr>
        <p:spPr>
          <a:xfrm>
            <a:off x="2363971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9D1FCE-1A4A-AE96-A9CF-D986D9BE554E}"/>
              </a:ext>
            </a:extLst>
          </p:cNvPr>
          <p:cNvSpPr/>
          <p:nvPr/>
        </p:nvSpPr>
        <p:spPr>
          <a:xfrm>
            <a:off x="367177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3B8206-8209-E4C0-F743-1A010FF83E6B}"/>
              </a:ext>
            </a:extLst>
          </p:cNvPr>
          <p:cNvSpPr/>
          <p:nvPr/>
        </p:nvSpPr>
        <p:spPr>
          <a:xfrm>
            <a:off x="4979579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019351-F84D-2645-39AD-BCB43EF51CA8}"/>
              </a:ext>
            </a:extLst>
          </p:cNvPr>
          <p:cNvSpPr/>
          <p:nvPr/>
        </p:nvSpPr>
        <p:spPr>
          <a:xfrm>
            <a:off x="8902991" y="4827181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E91045F-3024-D8F7-2F53-E38C3E57EB32}"/>
              </a:ext>
            </a:extLst>
          </p:cNvPr>
          <p:cNvSpPr/>
          <p:nvPr/>
        </p:nvSpPr>
        <p:spPr>
          <a:xfrm>
            <a:off x="10210795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BE86D7-082D-6F92-4068-16EF9613CA73}"/>
              </a:ext>
            </a:extLst>
          </p:cNvPr>
          <p:cNvSpPr/>
          <p:nvPr/>
        </p:nvSpPr>
        <p:spPr>
          <a:xfrm>
            <a:off x="182162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27AD4AE-A2CF-FB42-C5DC-748354D21B75}"/>
              </a:ext>
            </a:extLst>
          </p:cNvPr>
          <p:cNvSpPr/>
          <p:nvPr/>
        </p:nvSpPr>
        <p:spPr>
          <a:xfrm>
            <a:off x="4238845" y="3500917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6E699C-68D6-55D9-ABEA-70B9DF12A000}"/>
              </a:ext>
            </a:extLst>
          </p:cNvPr>
          <p:cNvSpPr/>
          <p:nvPr/>
        </p:nvSpPr>
        <p:spPr>
          <a:xfrm>
            <a:off x="9567890" y="3567648"/>
            <a:ext cx="900224" cy="86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2864D4-9378-96A6-A3B8-E6CBFF904F28}"/>
              </a:ext>
            </a:extLst>
          </p:cNvPr>
          <p:cNvSpPr/>
          <p:nvPr/>
        </p:nvSpPr>
        <p:spPr>
          <a:xfrm>
            <a:off x="2984201" y="2394152"/>
            <a:ext cx="900224" cy="864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156FD1-31BB-A791-A359-BE3A8A56CF8E}"/>
              </a:ext>
            </a:extLst>
          </p:cNvPr>
          <p:cNvSpPr/>
          <p:nvPr/>
        </p:nvSpPr>
        <p:spPr>
          <a:xfrm>
            <a:off x="6287383" y="4827181"/>
            <a:ext cx="900224" cy="864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25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2AAE-3104-C4AA-A202-F07AD2FD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7111D-B5FF-9F47-C17C-C6B635E5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쿼리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D5756F6-E096-1561-3515-729B3B5BC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496725"/>
              </p:ext>
            </p:extLst>
          </p:nvPr>
        </p:nvGraphicFramePr>
        <p:xfrm>
          <a:off x="838200" y="6064471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BAABA8C-9404-FCAF-BBCC-6802FB22403B}"/>
              </a:ext>
            </a:extLst>
          </p:cNvPr>
          <p:cNvSpPr/>
          <p:nvPr/>
        </p:nvSpPr>
        <p:spPr>
          <a:xfrm>
            <a:off x="838201" y="6064471"/>
            <a:ext cx="9198934" cy="37084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A82D58FE-B43C-2B02-8B0A-9C469342E6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948854"/>
              </p:ext>
            </p:extLst>
          </p:nvPr>
        </p:nvGraphicFramePr>
        <p:xfrm>
          <a:off x="838200" y="3523378"/>
          <a:ext cx="10515600" cy="819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</a:tblGrid>
              <a:tr h="819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51E7A0FE-4BF4-052F-7D19-2CCF8C5C96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453542"/>
              </p:ext>
            </p:extLst>
          </p:nvPr>
        </p:nvGraphicFramePr>
        <p:xfrm>
          <a:off x="838200" y="2480233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94D9CC60-7A77-B874-9A5D-FA09A2538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867843"/>
              </p:ext>
            </p:extLst>
          </p:nvPr>
        </p:nvGraphicFramePr>
        <p:xfrm>
          <a:off x="838200" y="1404799"/>
          <a:ext cx="10515600" cy="77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</a:tblGrid>
              <a:tr h="775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  <p:graphicFrame>
        <p:nvGraphicFramePr>
          <p:cNvPr id="23" name="내용 개체 틀 3">
            <a:extLst>
              <a:ext uri="{FF2B5EF4-FFF2-40B4-BE49-F238E27FC236}">
                <a16:creationId xmlns:a16="http://schemas.microsoft.com/office/drawing/2014/main" id="{05642EB1-8303-515C-D508-98351CA46F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145535"/>
              </p:ext>
            </p:extLst>
          </p:nvPr>
        </p:nvGraphicFramePr>
        <p:xfrm>
          <a:off x="838200" y="4677936"/>
          <a:ext cx="10515600" cy="845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85584861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9862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631597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032480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926878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421847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2352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75793506"/>
                    </a:ext>
                  </a:extLst>
                </a:gridCol>
              </a:tblGrid>
              <a:tr h="8452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8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294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7CC74-18FB-12C6-7D4C-E1FE8F27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  <a:r>
              <a:rPr lang="en-US" altLang="ko-KR" dirty="0"/>
              <a:t>: </a:t>
            </a:r>
            <a:r>
              <a:rPr lang="ko-KR" altLang="en-US" dirty="0" err="1"/>
              <a:t>이진트리를</a:t>
            </a:r>
            <a:r>
              <a:rPr lang="ko-KR" altLang="en-US" dirty="0"/>
              <a:t> 배열에 </a:t>
            </a:r>
            <a:r>
              <a:rPr lang="ko-KR" altLang="en-US" dirty="0" err="1"/>
              <a:t>구겨넣기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D97BB-719B-BD44-4008-BF9B586A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766" y="1818190"/>
            <a:ext cx="10515600" cy="4929851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루트 노드의 번호를 </a:t>
            </a:r>
            <a:r>
              <a:rPr lang="en-US" altLang="ko-KR" sz="2400" dirty="0"/>
              <a:t>1</a:t>
            </a:r>
            <a:r>
              <a:rPr lang="ko-KR" altLang="en-US" sz="2400" dirty="0"/>
              <a:t>이라고 하면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                                     </a:t>
            </a:r>
            <a:r>
              <a:rPr lang="ko-KR" altLang="en-US" sz="2400" dirty="0"/>
              <a:t>이런 형태</a:t>
            </a:r>
            <a:r>
              <a:rPr lang="en-US" altLang="ko-KR" sz="2400" dirty="0"/>
              <a:t>, X</a:t>
            </a:r>
            <a:r>
              <a:rPr lang="ko-KR" altLang="en-US" sz="2400" dirty="0"/>
              <a:t>의 왼쪽 자식 </a:t>
            </a:r>
            <a:r>
              <a:rPr lang="en-US" altLang="ko-KR" sz="2400" dirty="0"/>
              <a:t>= X*2</a:t>
            </a:r>
          </a:p>
          <a:p>
            <a:r>
              <a:rPr lang="en-US" altLang="ko-KR" sz="2400" dirty="0"/>
              <a:t>                                                       </a:t>
            </a:r>
            <a:r>
              <a:rPr lang="ko-KR" altLang="en-US" sz="2400" dirty="0"/>
              <a:t>오른쪽 자식 </a:t>
            </a:r>
            <a:r>
              <a:rPr lang="en-US" altLang="ko-KR" sz="2400" dirty="0"/>
              <a:t>= X*2+1</a:t>
            </a:r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길이 </a:t>
            </a:r>
            <a:r>
              <a:rPr lang="en-US" altLang="ko-KR" sz="2400" dirty="0"/>
              <a:t>N</a:t>
            </a:r>
            <a:r>
              <a:rPr lang="ko-KR" altLang="en-US" sz="2400" dirty="0"/>
              <a:t>의 원본 수열로 세그먼트 트리를 만들면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트리의 최대 높이는 </a:t>
            </a:r>
            <a:r>
              <a:rPr lang="en-US" altLang="ko-KR" sz="2400" dirty="0"/>
              <a:t>⌈log(N)⌉,</a:t>
            </a:r>
            <a:r>
              <a:rPr lang="ko-KR" altLang="en-US" sz="2400" dirty="0"/>
              <a:t> 정점 수는 </a:t>
            </a:r>
            <a:r>
              <a:rPr lang="en-US" altLang="ko-KR" sz="2400" dirty="0"/>
              <a:t>2</a:t>
            </a:r>
            <a:r>
              <a:rPr lang="ko-KR" altLang="en-US" sz="2400" baseline="30000" dirty="0"/>
              <a:t>높이</a:t>
            </a:r>
            <a:r>
              <a:rPr lang="en-US" altLang="ko-KR" sz="2400" baseline="30000" dirty="0"/>
              <a:t>+1</a:t>
            </a:r>
            <a:r>
              <a:rPr lang="en-US" altLang="ko-KR" sz="2400" dirty="0"/>
              <a:t> - 1</a:t>
            </a:r>
          </a:p>
          <a:p>
            <a:endParaRPr lang="en-US" altLang="ko-KR" sz="1400" dirty="0"/>
          </a:p>
          <a:p>
            <a:r>
              <a:rPr lang="ko-KR" altLang="en-US" sz="2400" dirty="0"/>
              <a:t>세그먼트 트리를 </a:t>
            </a:r>
            <a:r>
              <a:rPr lang="ko-KR" altLang="en-US" sz="2400" dirty="0" err="1"/>
              <a:t>구겨넣을</a:t>
            </a:r>
            <a:r>
              <a:rPr lang="ko-KR" altLang="en-US" sz="2400" dirty="0"/>
              <a:t> 배열의 길이도 최소한 이정도가 되어야 한다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넉넉히 잡아서 길이를 </a:t>
            </a:r>
            <a:r>
              <a:rPr lang="en-US" altLang="ko-KR" sz="2400" dirty="0"/>
              <a:t>N*4</a:t>
            </a:r>
            <a:r>
              <a:rPr lang="ko-KR" altLang="en-US" sz="2400" dirty="0"/>
              <a:t>로 설정하면 대부분 문제풀이에 지장이 없다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89CAD2-12FC-D87D-0680-63A86727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88" y="2401345"/>
            <a:ext cx="3628812" cy="20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48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22592-1497-3931-631E-E8DC99F5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C6EAAC-20D9-8FD3-49DC-C30275F0C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번 노드</a:t>
            </a:r>
            <a:r>
              <a:rPr lang="en-US" altLang="ko-KR" sz="2400" dirty="0"/>
              <a:t>, </a:t>
            </a:r>
            <a:r>
              <a:rPr lang="ko-KR" altLang="en-US" sz="2400" dirty="0"/>
              <a:t>구간 </a:t>
            </a:r>
            <a:r>
              <a:rPr lang="en-US" altLang="ko-KR" sz="2400" dirty="0"/>
              <a:t>[1 ~ N]</a:t>
            </a:r>
            <a:r>
              <a:rPr lang="ko-KR" altLang="en-US" sz="2400" dirty="0"/>
              <a:t>에서부터 재귀함수 시작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V</a:t>
            </a:r>
            <a:r>
              <a:rPr lang="ko-KR" altLang="en-US" sz="2400" dirty="0"/>
              <a:t>번 노드</a:t>
            </a:r>
            <a:r>
              <a:rPr lang="en-US" altLang="ko-KR" sz="2400" dirty="0"/>
              <a:t>, </a:t>
            </a:r>
            <a:r>
              <a:rPr lang="ko-KR" altLang="en-US" sz="2400" dirty="0"/>
              <a:t>구간 </a:t>
            </a:r>
            <a:r>
              <a:rPr lang="en-US" altLang="ko-KR" sz="2400" dirty="0"/>
              <a:t>[s ~ e]</a:t>
            </a:r>
            <a:r>
              <a:rPr lang="ko-KR" altLang="en-US" sz="2400" dirty="0"/>
              <a:t>에서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리프 노드</a:t>
            </a:r>
            <a:r>
              <a:rPr lang="en-US" altLang="ko-KR" sz="2400" dirty="0"/>
              <a:t>(s</a:t>
            </a:r>
            <a:r>
              <a:rPr lang="ko-KR" altLang="en-US" sz="2400" dirty="0"/>
              <a:t> </a:t>
            </a:r>
            <a:r>
              <a:rPr lang="en-US" altLang="ko-KR" sz="2400" dirty="0"/>
              <a:t>==</a:t>
            </a:r>
            <a:r>
              <a:rPr lang="ko-KR" altLang="en-US" sz="2400" dirty="0"/>
              <a:t> </a:t>
            </a:r>
            <a:r>
              <a:rPr lang="en-US" altLang="ko-KR" sz="2400" dirty="0"/>
              <a:t>e)</a:t>
            </a:r>
            <a:r>
              <a:rPr lang="ko-KR" altLang="en-US" sz="2400" dirty="0"/>
              <a:t>라면 원본 수열 </a:t>
            </a:r>
            <a:r>
              <a:rPr lang="en-US" altLang="ko-KR" sz="2400" dirty="0"/>
              <a:t>A[s]</a:t>
            </a:r>
            <a:r>
              <a:rPr lang="ko-KR" altLang="en-US" sz="2400" dirty="0"/>
              <a:t>의 값을 노드 </a:t>
            </a:r>
            <a:r>
              <a:rPr lang="en-US" altLang="ko-KR" sz="2400" dirty="0"/>
              <a:t>tree[V]</a:t>
            </a:r>
            <a:r>
              <a:rPr lang="ko-KR" altLang="en-US" sz="2400" dirty="0"/>
              <a:t>에 저장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아니라면</a:t>
            </a:r>
            <a:r>
              <a:rPr lang="en-US" altLang="ko-KR" sz="2400" dirty="0"/>
              <a:t>, </a:t>
            </a:r>
            <a:r>
              <a:rPr lang="ko-KR" altLang="en-US" sz="2400" dirty="0"/>
              <a:t>중간 지점 </a:t>
            </a:r>
            <a:r>
              <a:rPr lang="en-US" altLang="ko-KR" sz="2400" dirty="0"/>
              <a:t>m = (</a:t>
            </a:r>
            <a:r>
              <a:rPr lang="en-US" altLang="ko-KR" sz="2400" dirty="0" err="1"/>
              <a:t>s+e</a:t>
            </a:r>
            <a:r>
              <a:rPr lang="en-US" altLang="ko-KR" sz="2400" dirty="0"/>
              <a:t>)/2 </a:t>
            </a:r>
            <a:r>
              <a:rPr lang="ko-KR" altLang="en-US" sz="2400" dirty="0"/>
              <a:t>를 잡아서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V×2</a:t>
            </a:r>
            <a:r>
              <a:rPr lang="ko-KR" altLang="en-US" sz="2400" dirty="0"/>
              <a:t>번</a:t>
            </a:r>
            <a:r>
              <a:rPr lang="en-US" altLang="ko-KR" sz="2400" dirty="0"/>
              <a:t> </a:t>
            </a:r>
            <a:r>
              <a:rPr lang="ko-KR" altLang="en-US" sz="2400" dirty="0"/>
              <a:t>노드</a:t>
            </a:r>
            <a:r>
              <a:rPr lang="en-US" altLang="ko-KR" sz="2400" dirty="0"/>
              <a:t>, [s ~ m]</a:t>
            </a:r>
          </a:p>
          <a:p>
            <a:pPr marL="0" indent="0">
              <a:buNone/>
            </a:pPr>
            <a:r>
              <a:rPr lang="en-US" altLang="ko-KR" sz="2400" dirty="0"/>
              <a:t>V×2+1</a:t>
            </a:r>
            <a:r>
              <a:rPr lang="ko-KR" altLang="en-US" sz="2400" dirty="0"/>
              <a:t>번</a:t>
            </a:r>
            <a:r>
              <a:rPr lang="en-US" altLang="ko-KR" sz="2400" dirty="0"/>
              <a:t> </a:t>
            </a:r>
            <a:r>
              <a:rPr lang="ko-KR" altLang="en-US" sz="2400" dirty="0"/>
              <a:t>노드</a:t>
            </a:r>
            <a:r>
              <a:rPr lang="en-US" altLang="ko-KR" sz="2400" dirty="0"/>
              <a:t>, [m+1 ~ e] </a:t>
            </a:r>
            <a:r>
              <a:rPr lang="ko-KR" altLang="en-US" sz="2400" dirty="0"/>
              <a:t>으로 나눠서 호출한 뒤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ko-KR" altLang="en-US" sz="2400" dirty="0"/>
              <a:t>두 노드에 저장된 값을 합친다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r>
              <a:rPr lang="en-US" altLang="ko-KR" sz="2400" dirty="0"/>
              <a:t>tree[V] = tree[V×2] + tree[V×2+1]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4233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CC3D5-7B74-DA22-9A32-ED9E6C5E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업데이트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8AB8F-1D08-ACCD-0638-FEF056A8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611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마찬가지로 </a:t>
            </a:r>
            <a:r>
              <a:rPr lang="en-US" altLang="ko-KR" sz="2400" dirty="0"/>
              <a:t>1</a:t>
            </a:r>
            <a:r>
              <a:rPr lang="ko-KR" altLang="en-US" sz="2400" dirty="0"/>
              <a:t>번</a:t>
            </a:r>
            <a:r>
              <a:rPr lang="en-US" altLang="ko-KR" sz="2400" dirty="0"/>
              <a:t>, [1 ~ N]</a:t>
            </a:r>
            <a:r>
              <a:rPr lang="ko-KR" altLang="en-US" sz="2400" dirty="0"/>
              <a:t>에서 시작해서 반으로 나누며 호출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업데이트된 </a:t>
            </a:r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가 노드의 구간</a:t>
            </a:r>
            <a:r>
              <a:rPr lang="en-US" altLang="ko-KR" sz="2400" dirty="0"/>
              <a:t>(s</a:t>
            </a:r>
            <a:r>
              <a:rPr lang="ko-KR" altLang="en-US" sz="2400" dirty="0"/>
              <a:t> </a:t>
            </a:r>
            <a:r>
              <a:rPr lang="en-US" altLang="ko-KR" sz="2400" dirty="0"/>
              <a:t>~</a:t>
            </a:r>
            <a:r>
              <a:rPr lang="ko-KR" altLang="en-US" sz="2400" dirty="0"/>
              <a:t> </a:t>
            </a:r>
            <a:r>
              <a:rPr lang="en-US" altLang="ko-KR" sz="2400" dirty="0"/>
              <a:t>e)</a:t>
            </a:r>
            <a:r>
              <a:rPr lang="ko-KR" altLang="en-US" sz="2400" dirty="0"/>
              <a:t>에 포함되지 않은 경우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이 </a:t>
            </a:r>
            <a:r>
              <a:rPr lang="ko-KR" altLang="en-US" sz="2400" dirty="0" err="1"/>
              <a:t>서브트리에서는</a:t>
            </a:r>
            <a:r>
              <a:rPr lang="ko-KR" altLang="en-US" sz="2400" dirty="0"/>
              <a:t> 업데이트될 일이 없으니 바로 종료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노드의 구간이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와 일치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s == e ==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</a:t>
            </a:r>
            <a:r>
              <a:rPr lang="ko-KR" altLang="en-US" sz="2400" dirty="0"/>
              <a:t>인 경우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</a:t>
            </a:r>
            <a:r>
              <a:rPr lang="en-US" altLang="ko-KR" sz="2400" dirty="0"/>
              <a:t>tree[s] = (</a:t>
            </a:r>
            <a:r>
              <a:rPr lang="ko-KR" altLang="en-US" sz="2400" dirty="0"/>
              <a:t>업데이트된</a:t>
            </a:r>
            <a:r>
              <a:rPr lang="en-US" altLang="ko-KR" sz="2400" dirty="0"/>
              <a:t>) 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 </a:t>
            </a:r>
            <a:r>
              <a:rPr lang="ko-KR" altLang="en-US" sz="2400" dirty="0"/>
              <a:t>로 갱신하고 종료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노드의 구간 </a:t>
            </a:r>
            <a:r>
              <a:rPr lang="en-US" altLang="ko-KR" sz="2400" dirty="0"/>
              <a:t>(s ~ e)</a:t>
            </a:r>
            <a:r>
              <a:rPr lang="ko-KR" altLang="en-US" sz="2400" dirty="0"/>
              <a:t>에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가 포함된 경우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초기화할 때처럼 반으로 나눠서 호출한 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두 노드에 저장된 값을 합친다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r>
              <a:rPr lang="en-US" altLang="ko-KR" sz="2400" dirty="0"/>
              <a:t>tree[V] = tree[V×2] + tree[V×2+1]</a:t>
            </a:r>
          </a:p>
        </p:txBody>
      </p:sp>
    </p:spTree>
    <p:extLst>
      <p:ext uri="{BB962C8B-B14F-4D97-AF65-F5344CB8AC3E}">
        <p14:creationId xmlns:p14="http://schemas.microsoft.com/office/powerpoint/2010/main" val="2750086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21950-F63E-49A5-A021-C30F932D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쿼리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0E813-09F4-0606-F586-EFB4E376A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3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노드의 구간</a:t>
            </a:r>
            <a:r>
              <a:rPr lang="en-US" altLang="ko-KR" sz="2400" dirty="0"/>
              <a:t>(s ~ e)</a:t>
            </a:r>
            <a:r>
              <a:rPr lang="ko-KR" altLang="en-US" sz="2400" dirty="0"/>
              <a:t>이 쿼리 구간</a:t>
            </a:r>
            <a:r>
              <a:rPr lang="en-US" altLang="ko-KR" sz="2400" dirty="0"/>
              <a:t>(l ~ r)</a:t>
            </a:r>
            <a:r>
              <a:rPr lang="ko-KR" altLang="en-US" sz="2400" dirty="0"/>
              <a:t>에 완전히 포함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노드에 저장된 값 </a:t>
            </a:r>
            <a:r>
              <a:rPr lang="en-US" altLang="ko-KR" sz="2400" dirty="0"/>
              <a:t>tree[V]</a:t>
            </a:r>
            <a:r>
              <a:rPr lang="ko-KR" altLang="en-US" sz="2400" dirty="0"/>
              <a:t>을 그대로 리턴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노드의 구간</a:t>
            </a:r>
            <a:r>
              <a:rPr lang="en-US" altLang="ko-KR" sz="2400" dirty="0"/>
              <a:t>(s ~ e)</a:t>
            </a:r>
            <a:r>
              <a:rPr lang="ko-KR" altLang="en-US" sz="2400" dirty="0"/>
              <a:t>이 쿼리 구간</a:t>
            </a:r>
            <a:r>
              <a:rPr lang="en-US" altLang="ko-KR" sz="2400" dirty="0"/>
              <a:t>(l ~ r)</a:t>
            </a:r>
            <a:r>
              <a:rPr lang="ko-KR" altLang="en-US" sz="2400" dirty="0"/>
              <a:t>의 완전히 바깥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→ 더해도 아무런 영향이 가지 않는 값</a:t>
            </a:r>
            <a:r>
              <a:rPr lang="en-US" altLang="ko-KR" sz="2400" dirty="0"/>
              <a:t>( 0 )</a:t>
            </a:r>
            <a:r>
              <a:rPr lang="ko-KR" altLang="en-US" sz="2400" dirty="0"/>
              <a:t>을 리턴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이외 적당히 겹치는 경우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자식 노드로 내려가서 완전히 겹치는 구간만 받아와 합쳐서 리턴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query(V*2, </a:t>
            </a:r>
            <a:r>
              <a:rPr lang="en-US" altLang="ko-KR" sz="2400" dirty="0" err="1"/>
              <a:t>s~m</a:t>
            </a:r>
            <a:r>
              <a:rPr lang="en-US" altLang="ko-KR" sz="2400" dirty="0"/>
              <a:t>)</a:t>
            </a:r>
            <a:r>
              <a:rPr lang="ko-KR" altLang="en-US" sz="2400" dirty="0"/>
              <a:t>와 </a:t>
            </a:r>
            <a:r>
              <a:rPr lang="en-US" altLang="ko-KR" sz="2400" dirty="0"/>
              <a:t>query(V*2+1, m+1~e) </a:t>
            </a:r>
            <a:r>
              <a:rPr lang="ko-KR" altLang="en-US" sz="2400" dirty="0"/>
              <a:t>두 값을 받아서</a:t>
            </a:r>
            <a:r>
              <a:rPr lang="en-US" altLang="ko-KR" sz="2400" dirty="0"/>
              <a:t> </a:t>
            </a:r>
            <a:r>
              <a:rPr lang="ko-KR" altLang="en-US" sz="2400" dirty="0"/>
              <a:t>그 합을 리턴</a:t>
            </a:r>
          </a:p>
        </p:txBody>
      </p:sp>
    </p:spTree>
    <p:extLst>
      <p:ext uri="{BB962C8B-B14F-4D97-AF65-F5344CB8AC3E}">
        <p14:creationId xmlns:p14="http://schemas.microsoft.com/office/powerpoint/2010/main" val="294338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70D18-26E1-25EA-BE2B-40364F8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</a:t>
            </a:r>
            <a:r>
              <a:rPr lang="ko-KR" altLang="en-US" dirty="0"/>
              <a:t> </a:t>
            </a:r>
            <a:r>
              <a:rPr lang="en-US" altLang="ko-KR" dirty="0"/>
              <a:t>2042: </a:t>
            </a:r>
            <a:r>
              <a:rPr lang="ko-KR" altLang="en-US" dirty="0"/>
              <a:t>구간 합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32476-B1BC-4BCE-5244-A921BD47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 업데이트</a:t>
            </a:r>
            <a:r>
              <a:rPr lang="en-US" altLang="ko-KR" dirty="0"/>
              <a:t>, </a:t>
            </a:r>
            <a:r>
              <a:rPr lang="ko-KR" altLang="en-US" dirty="0"/>
              <a:t>구간 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앞에서 설명했던 내용을 실제 코드로 구현해보기  </a:t>
            </a:r>
          </a:p>
        </p:txBody>
      </p:sp>
    </p:spTree>
    <p:extLst>
      <p:ext uri="{BB962C8B-B14F-4D97-AF65-F5344CB8AC3E}">
        <p14:creationId xmlns:p14="http://schemas.microsoft.com/office/powerpoint/2010/main" val="4242038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137B3-D421-808A-5C9C-74672432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곱셈</a:t>
            </a:r>
            <a:r>
              <a:rPr lang="en-US" altLang="ko-KR" dirty="0"/>
              <a:t>, min, max </a:t>
            </a:r>
            <a:r>
              <a:rPr lang="ko-KR" altLang="en-US" dirty="0"/>
              <a:t>등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05B9F-B962-BAF0-2870-2B651B0D0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473" y="1690688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앞서 구간 합을 구할 </a:t>
            </a:r>
            <a:r>
              <a:rPr lang="ko-KR" altLang="en-US" sz="2400" dirty="0" err="1"/>
              <a:t>때랑</a:t>
            </a:r>
            <a:r>
              <a:rPr lang="ko-KR" altLang="en-US" sz="2400" dirty="0"/>
              <a:t> 거의 똑같이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합칠 때 연산만 대체하고 비슷하게 사용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쿼리 함수에서 범위를 벗어났을 때 </a:t>
            </a:r>
            <a:r>
              <a:rPr lang="ko-KR" altLang="en-US" dirty="0" err="1"/>
              <a:t>리턴할</a:t>
            </a:r>
            <a:r>
              <a:rPr lang="ko-KR" altLang="en-US" dirty="0"/>
              <a:t> 값에 차이 존재</a:t>
            </a:r>
            <a:endParaRPr lang="en-US" altLang="ko-KR" dirty="0"/>
          </a:p>
          <a:p>
            <a:r>
              <a:rPr lang="ko-KR" altLang="en-US" sz="2400" dirty="0"/>
              <a:t>곱셈 </a:t>
            </a:r>
            <a:r>
              <a:rPr lang="en-US" altLang="ko-KR" sz="2400" dirty="0"/>
              <a:t>: X × 1 = X                  </a:t>
            </a:r>
            <a:r>
              <a:rPr lang="ko-KR" altLang="en-US" sz="2400" dirty="0"/>
              <a:t>→ </a:t>
            </a:r>
            <a:r>
              <a:rPr lang="en-US" altLang="ko-KR" sz="2400" dirty="0"/>
              <a:t>1 </a:t>
            </a:r>
            <a:r>
              <a:rPr lang="ko-KR" altLang="en-US" sz="2400" dirty="0"/>
              <a:t>리턴</a:t>
            </a:r>
            <a:endParaRPr lang="en-US" altLang="ko-KR" sz="2400" dirty="0"/>
          </a:p>
          <a:p>
            <a:r>
              <a:rPr lang="en-US" altLang="ko-KR" sz="2400" dirty="0"/>
              <a:t>min</a:t>
            </a:r>
            <a:r>
              <a:rPr lang="ko-KR" altLang="en-US" sz="2400" dirty="0"/>
              <a:t>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min(X,</a:t>
            </a:r>
            <a:r>
              <a:rPr lang="ko-KR" altLang="en-US" sz="2400" dirty="0"/>
              <a:t> </a:t>
            </a:r>
            <a:r>
              <a:rPr lang="en-US" altLang="ko-KR" sz="2400" dirty="0"/>
              <a:t>INF)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X           </a:t>
            </a:r>
            <a:r>
              <a:rPr lang="ko-KR" altLang="en-US" sz="2400" dirty="0"/>
              <a:t>→ </a:t>
            </a:r>
            <a:r>
              <a:rPr lang="en-US" altLang="ko-KR" sz="2400" dirty="0"/>
              <a:t>INF </a:t>
            </a:r>
            <a:r>
              <a:rPr lang="ko-KR" altLang="en-US" sz="2400" dirty="0"/>
              <a:t>리턴</a:t>
            </a:r>
            <a:endParaRPr lang="en-US" altLang="ko-KR" sz="2400" dirty="0"/>
          </a:p>
          <a:p>
            <a:r>
              <a:rPr lang="en-US" altLang="ko-KR" sz="2400" dirty="0"/>
              <a:t>max : max(X, -INF) = X          </a:t>
            </a:r>
            <a:r>
              <a:rPr lang="ko-KR" altLang="en-US" sz="2400" dirty="0"/>
              <a:t>→</a:t>
            </a:r>
            <a:r>
              <a:rPr lang="en-US" altLang="ko-KR" sz="2400" dirty="0"/>
              <a:t> -INF</a:t>
            </a:r>
            <a:r>
              <a:rPr lang="ko-KR" altLang="en-US" sz="2400" dirty="0"/>
              <a:t> 리턴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ko-KR" altLang="en-US" sz="2400" dirty="0"/>
              <a:t>문제 조건 상 절대 안 나올 수</a:t>
            </a:r>
            <a:r>
              <a:rPr lang="en-US" altLang="ko-KR" sz="2400" dirty="0"/>
              <a:t>(</a:t>
            </a:r>
            <a:r>
              <a:rPr lang="ko-KR" altLang="en-US" sz="2400" dirty="0"/>
              <a:t>예시</a:t>
            </a:r>
            <a:r>
              <a:rPr lang="en-US" altLang="ko-KR" sz="2400" dirty="0"/>
              <a:t>: -1)</a:t>
            </a:r>
            <a:r>
              <a:rPr lang="ko-KR" altLang="en-US" sz="2400" dirty="0"/>
              <a:t>를 미리 예외 처리해서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한쪽이 </a:t>
            </a:r>
            <a:r>
              <a:rPr lang="en-US" altLang="ko-KR" sz="2400" dirty="0"/>
              <a:t>-1</a:t>
            </a:r>
            <a:r>
              <a:rPr lang="ko-KR" altLang="en-US" sz="2400" dirty="0"/>
              <a:t>이면 무조건 반대쪽의 </a:t>
            </a:r>
            <a:r>
              <a:rPr lang="en-US" altLang="ko-KR" sz="2400" dirty="0"/>
              <a:t>X</a:t>
            </a:r>
            <a:r>
              <a:rPr lang="ko-KR" altLang="en-US" sz="2400" dirty="0"/>
              <a:t>를 </a:t>
            </a:r>
            <a:r>
              <a:rPr lang="ko-KR" altLang="en-US" sz="2400" dirty="0" err="1"/>
              <a:t>리턴하도록</a:t>
            </a:r>
            <a:r>
              <a:rPr lang="ko-KR" altLang="en-US" sz="2400" dirty="0"/>
              <a:t> 처리하는 등의 방법도 가능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804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A7DD2-3AD4-5F6A-EA1C-ADE35601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곱셈</a:t>
            </a:r>
            <a:r>
              <a:rPr lang="en-US" altLang="ko-KR" dirty="0"/>
              <a:t>, min, max </a:t>
            </a:r>
            <a:r>
              <a:rPr lang="ko-KR" altLang="en-US" dirty="0"/>
              <a:t>등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D08A61-54C3-8921-6480-3B484812A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AND, OR, XOR, GCD, </a:t>
            </a:r>
            <a:r>
              <a:rPr lang="ko-KR" altLang="en-US" dirty="0" err="1"/>
              <a:t>등등등</a:t>
            </a:r>
            <a:r>
              <a:rPr lang="ko-KR" altLang="en-US" dirty="0"/>
              <a:t> 확장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세그먼트 트리의 노드에 들어가는 값도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굳이 정수가 아니라 </a:t>
            </a:r>
            <a:r>
              <a:rPr lang="en-US" altLang="ko-KR" dirty="0"/>
              <a:t>pair,</a:t>
            </a:r>
            <a:r>
              <a:rPr lang="ko-KR" altLang="en-US" dirty="0"/>
              <a:t> 구조체 등 뭐든 들어갈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모노이드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결합 법칙 성립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항등원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 존재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면 적용 가능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복잡한 구조체 사이에 결합 법칙이 잘 되는 연산을 정의하고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안 나올 법한 값 하나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잡아다가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항등원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취급하도록 해도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모노이드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50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30E0C-A03E-DCC1-BCD9-CD654D3E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405081-06FD-599D-4569-EDC6D870C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점 업데이트</a:t>
            </a:r>
            <a:r>
              <a:rPr lang="en-US" altLang="ko-KR" dirty="0"/>
              <a:t>, </a:t>
            </a:r>
            <a:r>
              <a:rPr lang="ko-KR" altLang="en-US" dirty="0"/>
              <a:t>구간 쿼리</a:t>
            </a:r>
            <a:r>
              <a:rPr lang="en-US" altLang="ko-KR" dirty="0"/>
              <a:t> (</a:t>
            </a:r>
            <a:r>
              <a:rPr lang="ko-KR" altLang="en-US" dirty="0"/>
              <a:t>지금까지 설명한 것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구간 업데이트</a:t>
            </a:r>
            <a:r>
              <a:rPr lang="en-US" altLang="ko-KR" dirty="0"/>
              <a:t>, </a:t>
            </a:r>
            <a:r>
              <a:rPr lang="ko-KR" altLang="en-US" dirty="0"/>
              <a:t>점 쿼리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400" dirty="0"/>
              <a:t>더 나아가면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노드별로 업데이트를 </a:t>
            </a:r>
            <a:r>
              <a:rPr lang="ko-KR" altLang="en-US" sz="2400" dirty="0" err="1"/>
              <a:t>저장해뒀다가</a:t>
            </a:r>
            <a:r>
              <a:rPr lang="ko-KR" altLang="en-US" sz="2400" dirty="0"/>
              <a:t> 필요할 때만 하는 트릭을 적용하면</a:t>
            </a:r>
            <a:endParaRPr lang="en-US" altLang="ko-KR" sz="2400" dirty="0"/>
          </a:p>
          <a:p>
            <a:r>
              <a:rPr lang="ko-KR" altLang="en-US" sz="2400" dirty="0"/>
              <a:t>구간 업데이트</a:t>
            </a:r>
            <a:r>
              <a:rPr lang="en-US" altLang="ko-KR" sz="2400" dirty="0"/>
              <a:t>, </a:t>
            </a:r>
            <a:r>
              <a:rPr lang="ko-KR" altLang="en-US" sz="2400" dirty="0"/>
              <a:t>구간 쿼리도 가능 </a:t>
            </a:r>
            <a:r>
              <a:rPr lang="en-US" altLang="ko-KR" sz="2400" dirty="0"/>
              <a:t>(</a:t>
            </a:r>
            <a:r>
              <a:rPr lang="ko-KR" altLang="en-US" sz="2400" dirty="0"/>
              <a:t>레이지 세그먼트 트리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433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15B33-09E2-271D-F6D9-D055560B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036AB-5F00-DB77-546E-683039D82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세그먼트 트리의 대단한 응용성을 가볍게</a:t>
            </a:r>
            <a:r>
              <a:rPr lang="en-US" altLang="ko-KR" dirty="0"/>
              <a:t>?</a:t>
            </a:r>
            <a:r>
              <a:rPr lang="ko-KR" altLang="en-US" dirty="0"/>
              <a:t> 체험해봅시다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문제집에 넣어둔 응용 문제들의 풀이를 글로 소개합니다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878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2C98D-28C7-4E84-C939-5D023021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</a:t>
            </a:r>
            <a:r>
              <a:rPr lang="ko-KR" altLang="en-US" dirty="0"/>
              <a:t> </a:t>
            </a:r>
            <a:r>
              <a:rPr lang="en-US" altLang="ko-KR" dirty="0"/>
              <a:t>32644:</a:t>
            </a:r>
            <a:r>
              <a:rPr lang="ko-KR" altLang="en-US" dirty="0"/>
              <a:t> 랜덤 넘버 추측하기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6E75C-3E95-13BE-9E85-2A7731D9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chemeClr val="bg1">
                    <a:lumMod val="75000"/>
                  </a:schemeClr>
                </a:solidFill>
              </a:rPr>
              <a:t>ZOAC </a:t>
            </a:r>
            <a:r>
              <a:rPr lang="ko-KR" altLang="en-US" sz="2400" dirty="0">
                <a:solidFill>
                  <a:schemeClr val="bg1">
                    <a:lumMod val="75000"/>
                  </a:schemeClr>
                </a:solidFill>
              </a:rPr>
              <a:t>홍보</a:t>
            </a:r>
            <a:r>
              <a:rPr lang="en-US" altLang="ko-KR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2400" dirty="0">
                <a:solidFill>
                  <a:schemeClr val="bg1">
                    <a:lumMod val="75000"/>
                  </a:schemeClr>
                </a:solidFill>
              </a:rPr>
              <a:t>겸 들고 왔습니다</a:t>
            </a:r>
            <a:endParaRPr lang="en-US" altLang="ko-KR" sz="24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ko-KR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ko-KR" altLang="en-US" sz="2400" dirty="0"/>
              <a:t>랜덤 넘버로 가능한 값 예시</a:t>
            </a:r>
            <a:r>
              <a:rPr lang="en-US" altLang="ko-KR" sz="2400" dirty="0"/>
              <a:t>:</a:t>
            </a:r>
          </a:p>
          <a:p>
            <a:r>
              <a:rPr lang="ko-KR" altLang="en-US" sz="2400" dirty="0"/>
              <a:t>리스트에서 </a:t>
            </a:r>
            <a:r>
              <a:rPr lang="en-US" altLang="ko-KR" sz="2400" dirty="0"/>
              <a:t>k</a:t>
            </a:r>
            <a:r>
              <a:rPr lang="ko-KR" altLang="en-US" sz="2400" dirty="0"/>
              <a:t>보다 앞에 있는 수의 개수 </a:t>
            </a:r>
            <a:r>
              <a:rPr lang="en-US" altLang="ko-KR" sz="2400" dirty="0"/>
              <a:t>+ 1 (T</a:t>
            </a:r>
            <a:r>
              <a:rPr lang="en-US" altLang="ko-KR" sz="2400" baseline="-25000" dirty="0"/>
              <a:t>k</a:t>
            </a:r>
            <a:r>
              <a:rPr lang="ko-KR" altLang="en-US" sz="2400" dirty="0"/>
              <a:t>의 첫 등장 위치</a:t>
            </a:r>
            <a:r>
              <a:rPr lang="en-US" altLang="ko-KR" sz="2400" dirty="0"/>
              <a:t>)</a:t>
            </a:r>
            <a:endParaRPr lang="en-US" altLang="ko-KR" sz="2400" baseline="-25000" dirty="0"/>
          </a:p>
          <a:p>
            <a:pPr marL="0" indent="0">
              <a:buNone/>
            </a:pPr>
            <a:r>
              <a:rPr lang="en-US" altLang="ko-KR" sz="2400" dirty="0"/>
              <a:t>= </a:t>
            </a:r>
            <a:r>
              <a:rPr lang="ko-KR" altLang="en-US" sz="2400" dirty="0"/>
              <a:t>앞사람들의 가중치의 합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뽑히면 리스트에서 </a:t>
            </a:r>
            <a:r>
              <a:rPr lang="en-US" altLang="ko-KR" sz="2400" dirty="0"/>
              <a:t>T</a:t>
            </a:r>
            <a:r>
              <a:rPr lang="en-US" altLang="ko-KR" sz="2400" baseline="-25000" dirty="0"/>
              <a:t>k </a:t>
            </a:r>
            <a:r>
              <a:rPr lang="ko-KR" altLang="en-US" sz="2400" dirty="0"/>
              <a:t>모두 제거 </a:t>
            </a:r>
            <a:r>
              <a:rPr lang="en-US" altLang="ko-KR" sz="2400" dirty="0"/>
              <a:t>==&gt; k</a:t>
            </a:r>
            <a:r>
              <a:rPr lang="ko-KR" altLang="en-US" sz="2400" dirty="0"/>
              <a:t>의 가중치를 </a:t>
            </a:r>
            <a:r>
              <a:rPr lang="en-US" altLang="ko-KR" sz="2400" dirty="0"/>
              <a:t>0</a:t>
            </a:r>
            <a:r>
              <a:rPr lang="ko-KR" altLang="en-US" sz="2400" dirty="0"/>
              <a:t>으로 설정</a:t>
            </a:r>
            <a:endParaRPr lang="en-US" altLang="ko-KR" sz="2400" dirty="0"/>
          </a:p>
          <a:p>
            <a:endParaRPr lang="en-US" altLang="ko-KR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2400" dirty="0"/>
              <a:t>1: </a:t>
            </a:r>
            <a:r>
              <a:rPr lang="ko-KR" altLang="en-US" sz="2400" dirty="0"/>
              <a:t>뽑힌 사람의 가중치를 </a:t>
            </a:r>
            <a:r>
              <a:rPr lang="en-US" altLang="ko-KR" sz="2400" dirty="0"/>
              <a:t>0</a:t>
            </a:r>
            <a:r>
              <a:rPr lang="ko-KR" altLang="en-US" sz="2400" dirty="0"/>
              <a:t>으로 설정 </a:t>
            </a:r>
            <a:r>
              <a:rPr lang="en-US" altLang="ko-KR" sz="2400" dirty="0"/>
              <a:t>(</a:t>
            </a:r>
            <a:r>
              <a:rPr lang="ko-KR" altLang="en-US" sz="2400" dirty="0"/>
              <a:t>업데이트 쿼리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r>
              <a:rPr lang="en-US" altLang="ko-KR" sz="2400" dirty="0"/>
              <a:t>2: </a:t>
            </a:r>
            <a:r>
              <a:rPr lang="ko-KR" altLang="en-US" sz="2400" dirty="0"/>
              <a:t>번호 </a:t>
            </a:r>
            <a:r>
              <a:rPr lang="en-US" altLang="ko-KR" sz="2400" dirty="0"/>
              <a:t>1</a:t>
            </a:r>
            <a:r>
              <a:rPr lang="ko-KR" altLang="en-US" sz="2400" dirty="0"/>
              <a:t>부터 번호 </a:t>
            </a:r>
            <a:r>
              <a:rPr lang="en-US" altLang="ko-KR" sz="2400" dirty="0"/>
              <a:t>k-1</a:t>
            </a:r>
            <a:r>
              <a:rPr lang="ko-KR" altLang="en-US" sz="2400" dirty="0"/>
              <a:t>까지의 가중치 합 </a:t>
            </a:r>
            <a:r>
              <a:rPr lang="en-US" altLang="ko-KR" sz="2400" dirty="0"/>
              <a:t>(</a:t>
            </a:r>
            <a:r>
              <a:rPr lang="ko-KR" altLang="en-US" sz="2400" dirty="0"/>
              <a:t>구간 합 쿼리</a:t>
            </a:r>
            <a:r>
              <a:rPr lang="en-US" altLang="ko-KR" sz="2400" dirty="0"/>
              <a:t>)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48122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400D9-D870-771F-0E43-29070E9B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BOJ 14003: </a:t>
            </a:r>
            <a:r>
              <a:rPr lang="ko-KR" altLang="en-US" sz="4000" dirty="0"/>
              <a:t>가장 긴 증가하는 부분 수열 </a:t>
            </a:r>
            <a:r>
              <a:rPr lang="en-US" altLang="ko-KR" sz="4000" dirty="0"/>
              <a:t>5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5BB42-583B-1B53-FEEF-475FF4A4F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세그먼트 트리를 이용한 </a:t>
            </a:r>
            <a:r>
              <a:rPr lang="en-US" altLang="ko-KR" dirty="0"/>
              <a:t>LIS ( O(</a:t>
            </a:r>
            <a:r>
              <a:rPr lang="en-US" altLang="ko-KR" dirty="0" err="1"/>
              <a:t>NlogN</a:t>
            </a:r>
            <a:r>
              <a:rPr lang="en-US" altLang="ko-KR" dirty="0"/>
              <a:t>) )</a:t>
            </a:r>
          </a:p>
          <a:p>
            <a:endParaRPr lang="en-US" altLang="ko-KR" b="0" dirty="0"/>
          </a:p>
          <a:p>
            <a:r>
              <a:rPr lang="en-US" altLang="ko-KR" b="0" dirty="0"/>
              <a:t>DP</a:t>
            </a:r>
            <a:r>
              <a:rPr lang="ko-KR" altLang="en-US" dirty="0"/>
              <a:t>로 </a:t>
            </a:r>
            <a:r>
              <a:rPr lang="en-US" altLang="ko-KR" dirty="0"/>
              <a:t>LIS</a:t>
            </a:r>
            <a:r>
              <a:rPr lang="ko-KR" altLang="en-US" dirty="0"/>
              <a:t>를 구하는 </a:t>
            </a:r>
            <a:r>
              <a:rPr lang="en-US" altLang="ko-KR" dirty="0"/>
              <a:t>O(N</a:t>
            </a:r>
            <a:r>
              <a:rPr lang="en-US" altLang="ko-KR" baseline="30000" dirty="0"/>
              <a:t>2</a:t>
            </a:r>
            <a:r>
              <a:rPr lang="en-US" altLang="ko-KR" dirty="0"/>
              <a:t>) </a:t>
            </a:r>
            <a:r>
              <a:rPr lang="ko-KR" altLang="en-US" dirty="0"/>
              <a:t>방법을 다시 생각해보면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en-US" altLang="ko-KR" dirty="0"/>
              <a:t>DP[</a:t>
            </a:r>
            <a:r>
              <a:rPr lang="en-US" altLang="ko-KR" dirty="0" err="1"/>
              <a:t>i</a:t>
            </a:r>
            <a:r>
              <a:rPr lang="en-US" altLang="ko-KR" dirty="0"/>
              <a:t>] = max( DP[j] ) + 1 ( j &lt; </a:t>
            </a:r>
            <a:r>
              <a:rPr lang="en-US" altLang="ko-KR" dirty="0" err="1"/>
              <a:t>i</a:t>
            </a:r>
            <a:r>
              <a:rPr lang="en-US" altLang="ko-KR" dirty="0"/>
              <a:t> &amp; A[j] &lt; A[</a:t>
            </a:r>
            <a:r>
              <a:rPr lang="en-US" altLang="ko-KR" dirty="0" err="1"/>
              <a:t>i</a:t>
            </a:r>
            <a:r>
              <a:rPr lang="en-US" altLang="ko-KR" dirty="0"/>
              <a:t>] )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앞의 </a:t>
            </a:r>
            <a:r>
              <a:rPr lang="en-US" altLang="ko-KR" dirty="0"/>
              <a:t>DP </a:t>
            </a:r>
            <a:r>
              <a:rPr lang="ko-KR" altLang="en-US" dirty="0"/>
              <a:t>값들 중</a:t>
            </a:r>
            <a:r>
              <a:rPr lang="en-US" altLang="ko-KR" dirty="0"/>
              <a:t>, A[j]</a:t>
            </a:r>
            <a:r>
              <a:rPr lang="ko-KR" altLang="en-US" dirty="0"/>
              <a:t>가 현재 </a:t>
            </a:r>
            <a:r>
              <a:rPr lang="en-US" altLang="ko-KR" dirty="0"/>
              <a:t>A[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보다 작은 것에서 최댓값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이를 연속한 구간에서의 </a:t>
            </a:r>
            <a:r>
              <a:rPr lang="en-US" altLang="ko-KR" dirty="0"/>
              <a:t>max </a:t>
            </a:r>
            <a:r>
              <a:rPr lang="ko-KR" altLang="en-US" dirty="0"/>
              <a:t>쿼리로 바꾸려면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57688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D132-BDAA-ABE5-BC40-01F0DEC3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2E3E3-4657-9E33-025B-8F713D53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BOJ 14003: </a:t>
            </a:r>
            <a:r>
              <a:rPr lang="ko-KR" altLang="en-US" sz="4000" dirty="0"/>
              <a:t>가장 긴 증가하는 부분 수열 </a:t>
            </a:r>
            <a:r>
              <a:rPr lang="en-US" altLang="ko-KR" sz="4000" dirty="0"/>
              <a:t>5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3D90C-C0DC-D09B-D429-B58F56FA2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39"/>
            <a:ext cx="10959790" cy="619581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dirty="0"/>
              <a:t>&gt; </a:t>
            </a:r>
            <a:r>
              <a:rPr lang="ko-KR" altLang="en-US" sz="2400" dirty="0"/>
              <a:t>앞의 </a:t>
            </a:r>
            <a:r>
              <a:rPr lang="en-US" altLang="ko-KR" sz="2400" dirty="0"/>
              <a:t>DP</a:t>
            </a:r>
            <a:r>
              <a:rPr lang="ko-KR" altLang="en-US" sz="2400" dirty="0"/>
              <a:t>값들을 </a:t>
            </a:r>
            <a:r>
              <a:rPr lang="en-US" altLang="ko-KR" sz="2400" dirty="0"/>
              <a:t>A[j] </a:t>
            </a:r>
            <a:r>
              <a:rPr lang="ko-KR" altLang="en-US" sz="2400" dirty="0"/>
              <a:t>값을 인덱스로 하여 따로 저장한 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 인덱스 </a:t>
            </a:r>
            <a:r>
              <a:rPr lang="en-US" altLang="ko-KR" sz="2400" dirty="0"/>
              <a:t>1</a:t>
            </a:r>
            <a:r>
              <a:rPr lang="ko-KR" altLang="en-US" sz="2400" dirty="0"/>
              <a:t> </a:t>
            </a:r>
            <a:r>
              <a:rPr lang="en-US" altLang="ko-KR" sz="2400" dirty="0"/>
              <a:t>~</a:t>
            </a:r>
            <a:r>
              <a:rPr lang="ko-KR" altLang="en-US" sz="2400" dirty="0"/>
              <a:t> </a:t>
            </a:r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]-1</a:t>
            </a:r>
            <a:r>
              <a:rPr lang="ko-KR" altLang="en-US" sz="2400" dirty="0"/>
              <a:t>에서 최댓값 쿼리 </a:t>
            </a:r>
            <a:r>
              <a:rPr lang="en-US" altLang="ko-KR" sz="2400" dirty="0"/>
              <a:t>(A[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보다 작은 구간에서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현재 </a:t>
            </a:r>
            <a:r>
              <a:rPr lang="en-US" altLang="ko-KR" sz="2400" dirty="0"/>
              <a:t>DP[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값을 구한 뒤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B[ 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 ]</a:t>
            </a:r>
            <a:r>
              <a:rPr lang="ko-KR" altLang="en-US" sz="2400" dirty="0"/>
              <a:t>에 수열의 값이 </a:t>
            </a:r>
            <a:r>
              <a:rPr lang="en-US" altLang="ko-KR" sz="2400" dirty="0"/>
              <a:t>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인 </a:t>
            </a:r>
            <a:r>
              <a:rPr lang="en-US" altLang="ko-KR" sz="2400" dirty="0"/>
              <a:t>DP[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 </a:t>
            </a:r>
            <a:r>
              <a:rPr lang="ko-KR" altLang="en-US" sz="2400" dirty="0"/>
              <a:t>중 최댓값</a:t>
            </a:r>
            <a:r>
              <a:rPr lang="en-US" altLang="ko-KR" sz="2400" dirty="0"/>
              <a:t>(</a:t>
            </a:r>
            <a:r>
              <a:rPr lang="ko-KR" altLang="en-US" sz="2400" dirty="0"/>
              <a:t>과 인덱스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)</a:t>
            </a:r>
            <a:r>
              <a:rPr lang="ko-KR" altLang="en-US" sz="2400" dirty="0"/>
              <a:t>를 저장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이 새로운 </a:t>
            </a:r>
            <a:r>
              <a:rPr lang="en-US" altLang="ko-KR" sz="2400" dirty="0"/>
              <a:t>B</a:t>
            </a:r>
            <a:r>
              <a:rPr lang="ko-KR" altLang="en-US" sz="2400" dirty="0"/>
              <a:t>를 기반으로 </a:t>
            </a:r>
            <a:r>
              <a:rPr lang="en-US" altLang="ko-KR" sz="2400" dirty="0"/>
              <a:t>max</a:t>
            </a:r>
            <a:r>
              <a:rPr lang="ko-KR" altLang="en-US" sz="2400" dirty="0"/>
              <a:t>를 저장하는 세그먼트 트리 구성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ko-KR" altLang="en-US" sz="2400" dirty="0"/>
              <a:t>다음 </a:t>
            </a:r>
            <a:r>
              <a:rPr lang="en-US" altLang="ko-KR" sz="2400" dirty="0"/>
              <a:t>DP[k]</a:t>
            </a:r>
            <a:r>
              <a:rPr lang="ko-KR" altLang="en-US" sz="2400" dirty="0"/>
              <a:t>를 구할 때 세그먼트 트리에서 </a:t>
            </a:r>
            <a:r>
              <a:rPr lang="en-US" altLang="ko-KR" sz="2400" dirty="0"/>
              <a:t>(1 ~ A[k]-1) </a:t>
            </a:r>
            <a:r>
              <a:rPr lang="ko-KR" altLang="en-US" sz="2400" dirty="0"/>
              <a:t>구간을 쿼리하면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이전 값들 중 </a:t>
            </a:r>
            <a:r>
              <a:rPr lang="en-US" altLang="ko-KR" sz="2400" dirty="0"/>
              <a:t>A</a:t>
            </a:r>
            <a:r>
              <a:rPr lang="ko-KR" altLang="en-US" sz="2400" dirty="0"/>
              <a:t>가 더 작은 최대 </a:t>
            </a:r>
            <a:r>
              <a:rPr lang="en-US" altLang="ko-KR" sz="2400" dirty="0"/>
              <a:t>DP</a:t>
            </a:r>
            <a:r>
              <a:rPr lang="ko-KR" altLang="en-US" sz="2400" dirty="0"/>
              <a:t>값을 빠르게 가져올 수 있다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이제 알던 대로 </a:t>
            </a:r>
            <a:r>
              <a:rPr lang="en-US" altLang="ko-KR" sz="2400" dirty="0"/>
              <a:t>DP</a:t>
            </a:r>
            <a:r>
              <a:rPr lang="ko-KR" altLang="en-US" sz="2400" dirty="0"/>
              <a:t>값 구하고서 세그먼트 트리에 갱신하고</a:t>
            </a:r>
            <a:r>
              <a:rPr lang="en-US" altLang="ko-KR" sz="2400" dirty="0"/>
              <a:t>, </a:t>
            </a:r>
            <a:r>
              <a:rPr lang="ko-KR" altLang="en-US" sz="2400" dirty="0"/>
              <a:t>또 다음 가져오고</a:t>
            </a:r>
            <a:r>
              <a:rPr lang="en-US" altLang="ko-KR" sz="2400" dirty="0"/>
              <a:t>, … </a:t>
            </a:r>
            <a:r>
              <a:rPr lang="ko-KR" altLang="en-US" sz="2400" dirty="0"/>
              <a:t>반복 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2187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7782B-3F78-C35D-C22D-73AD427E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BOJ 6549: </a:t>
            </a:r>
            <a:r>
              <a:rPr lang="ko-KR" altLang="en-US" sz="4000" dirty="0"/>
              <a:t>히스토그램에서 가장 큰 직사각형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7C97A-145D-E79B-4B84-EC7E3B23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02999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여러가지 풀이가 있는 문제 </a:t>
            </a:r>
            <a:r>
              <a:rPr lang="en-US" altLang="ko-KR" sz="2400" dirty="0"/>
              <a:t>(</a:t>
            </a:r>
            <a:r>
              <a:rPr lang="ko-KR" altLang="en-US" sz="2400" dirty="0"/>
              <a:t>단조 스택 풀이</a:t>
            </a:r>
            <a:r>
              <a:rPr lang="en-US" altLang="ko-KR" sz="2400" dirty="0"/>
              <a:t>, </a:t>
            </a:r>
            <a:r>
              <a:rPr lang="ko-KR" altLang="en-US" sz="2400" dirty="0"/>
              <a:t>분리 집합 풀이 등등</a:t>
            </a:r>
            <a:r>
              <a:rPr lang="en-US" altLang="ko-KR" sz="2400" dirty="0"/>
              <a:t>..)</a:t>
            </a:r>
          </a:p>
          <a:p>
            <a:r>
              <a:rPr lang="ko-KR" altLang="en-US" sz="2400" dirty="0"/>
              <a:t>소개할 것은 세그먼트 트리 </a:t>
            </a:r>
            <a:r>
              <a:rPr lang="en-US" altLang="ko-KR" sz="2400" dirty="0"/>
              <a:t>+ </a:t>
            </a:r>
            <a:r>
              <a:rPr lang="ko-KR" altLang="en-US" sz="2400" dirty="0"/>
              <a:t>분할 정복 풀이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구간의 최솟값과 그 인덱스를 찾는다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세그트리로</a:t>
            </a:r>
            <a:r>
              <a:rPr lang="ko-KR" altLang="en-US" sz="2400" dirty="0"/>
              <a:t> </a:t>
            </a:r>
            <a:r>
              <a:rPr lang="en-US" altLang="ko-KR" sz="2400" dirty="0"/>
              <a:t>O(</a:t>
            </a:r>
            <a:r>
              <a:rPr lang="en-US" altLang="ko-KR" sz="2400" dirty="0" err="1"/>
              <a:t>logN</a:t>
            </a:r>
            <a:r>
              <a:rPr lang="en-US" altLang="ko-KR" sz="2400" dirty="0"/>
              <a:t>))</a:t>
            </a:r>
          </a:p>
          <a:p>
            <a:pPr marL="0" indent="0">
              <a:buNone/>
            </a:pPr>
            <a:r>
              <a:rPr lang="en-US" altLang="ko-KR" sz="2400" dirty="0"/>
              <a:t>2. (</a:t>
            </a:r>
            <a:r>
              <a:rPr lang="ko-KR" altLang="en-US" sz="2400" dirty="0"/>
              <a:t>최솟값 </a:t>
            </a:r>
            <a:r>
              <a:rPr lang="en-US" altLang="ko-KR" sz="2400" dirty="0"/>
              <a:t>× </a:t>
            </a:r>
            <a:r>
              <a:rPr lang="ko-KR" altLang="en-US" sz="2400" dirty="0"/>
              <a:t>구간 길이</a:t>
            </a:r>
            <a:r>
              <a:rPr lang="en-US" altLang="ko-KR" sz="2400" dirty="0"/>
              <a:t>)</a:t>
            </a:r>
            <a:r>
              <a:rPr lang="ko-KR" altLang="en-US" sz="2400" dirty="0"/>
              <a:t>와 기존 답을 비교해서 더 큰 거로 저장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[</a:t>
            </a:r>
            <a:r>
              <a:rPr lang="ko-KR" altLang="en-US" sz="2400" dirty="0"/>
              <a:t>왼쪽 끝 </a:t>
            </a:r>
            <a:r>
              <a:rPr lang="en-US" altLang="ko-KR" sz="2400" dirty="0"/>
              <a:t>~ min</a:t>
            </a:r>
            <a:r>
              <a:rPr lang="ko-KR" altLang="en-US" sz="2400" dirty="0"/>
              <a:t>위치</a:t>
            </a:r>
            <a:r>
              <a:rPr lang="en-US" altLang="ko-KR" sz="2400" dirty="0"/>
              <a:t>-1]</a:t>
            </a:r>
            <a:r>
              <a:rPr lang="ko-KR" altLang="en-US" sz="2400" dirty="0"/>
              <a:t>과 </a:t>
            </a:r>
            <a:r>
              <a:rPr lang="en-US" altLang="ko-KR" sz="2400" dirty="0"/>
              <a:t>[min</a:t>
            </a:r>
            <a:r>
              <a:rPr lang="ko-KR" altLang="en-US" sz="2400" dirty="0"/>
              <a:t>위치</a:t>
            </a:r>
            <a:r>
              <a:rPr lang="en-US" altLang="ko-KR" sz="2400" dirty="0"/>
              <a:t>+1 ~ </a:t>
            </a:r>
            <a:r>
              <a:rPr lang="ko-KR" altLang="en-US" sz="2400" dirty="0"/>
              <a:t>오른쪽 끝</a:t>
            </a:r>
            <a:r>
              <a:rPr lang="en-US" altLang="ko-KR" sz="2400" dirty="0"/>
              <a:t>]</a:t>
            </a:r>
            <a:r>
              <a:rPr lang="ko-KR" altLang="en-US" sz="2400" dirty="0"/>
              <a:t>의 두 구간으로 나눠서 반복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모든 값이 최솟값으로 선택되어 제외될 때까지</a:t>
            </a:r>
            <a:r>
              <a:rPr lang="en-US" altLang="ko-KR" sz="2400" dirty="0"/>
              <a:t>, </a:t>
            </a:r>
            <a:r>
              <a:rPr lang="ko-KR" altLang="en-US" sz="2400" dirty="0"/>
              <a:t>총 </a:t>
            </a:r>
            <a:r>
              <a:rPr lang="en-US" altLang="ko-KR" sz="2400" dirty="0"/>
              <a:t>N</a:t>
            </a:r>
            <a:r>
              <a:rPr lang="ko-KR" altLang="en-US" sz="2400" dirty="0"/>
              <a:t>개 구간에서 반복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전체 시간 복잡도 </a:t>
            </a:r>
            <a:r>
              <a:rPr lang="en-US" altLang="ko-KR" sz="2400" dirty="0"/>
              <a:t>= O(N)[</a:t>
            </a:r>
            <a:r>
              <a:rPr lang="ko-KR" altLang="en-US" sz="2400" dirty="0"/>
              <a:t>나눠진 수</a:t>
            </a:r>
            <a:r>
              <a:rPr lang="en-US" altLang="ko-KR" sz="2400" dirty="0"/>
              <a:t>] × O(</a:t>
            </a:r>
            <a:r>
              <a:rPr lang="en-US" altLang="ko-KR" sz="2400" dirty="0" err="1"/>
              <a:t>logN</a:t>
            </a:r>
            <a:r>
              <a:rPr lang="en-US" altLang="ko-KR" sz="2400" dirty="0"/>
              <a:t>)[</a:t>
            </a:r>
            <a:r>
              <a:rPr lang="ko-KR" altLang="en-US" sz="2400" dirty="0"/>
              <a:t>각 구간에서의 연산</a:t>
            </a:r>
            <a:r>
              <a:rPr lang="en-US" altLang="ko-KR" sz="2400" dirty="0"/>
              <a:t>] = O(</a:t>
            </a:r>
            <a:r>
              <a:rPr lang="en-US" altLang="ko-KR" sz="2400" dirty="0" err="1"/>
              <a:t>NlogN</a:t>
            </a:r>
            <a:r>
              <a:rPr lang="en-US" altLang="ko-KR" sz="2400" dirty="0"/>
              <a:t>)</a:t>
            </a:r>
          </a:p>
          <a:p>
            <a:endParaRPr lang="ko-KR" altLang="en-US" sz="24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F3A9901-7A9C-ABAE-A0D0-CF02D23AC2F9}"/>
              </a:ext>
            </a:extLst>
          </p:cNvPr>
          <p:cNvGrpSpPr/>
          <p:nvPr/>
        </p:nvGrpSpPr>
        <p:grpSpPr>
          <a:xfrm>
            <a:off x="9598600" y="2216151"/>
            <a:ext cx="2200275" cy="1600200"/>
            <a:chOff x="9598600" y="2216151"/>
            <a:chExt cx="2200275" cy="160020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3C29999-F30D-D896-AA71-4BB51905E262}"/>
                </a:ext>
              </a:extLst>
            </p:cNvPr>
            <p:cNvGrpSpPr/>
            <p:nvPr/>
          </p:nvGrpSpPr>
          <p:grpSpPr>
            <a:xfrm>
              <a:off x="9598600" y="2216151"/>
              <a:ext cx="2200275" cy="1600200"/>
              <a:chOff x="9598600" y="2216151"/>
              <a:chExt cx="2200275" cy="1600200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C955C9D6-18CB-3F4C-AD80-336BC47125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98600" y="2216151"/>
                <a:ext cx="2200275" cy="1600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DAFF7A24-813C-CFEB-0EF1-F89A51F10B13}"/>
                  </a:ext>
                </a:extLst>
              </p:cNvPr>
              <p:cNvSpPr/>
              <p:nvPr/>
            </p:nvSpPr>
            <p:spPr>
              <a:xfrm>
                <a:off x="9643462" y="3429000"/>
                <a:ext cx="2082373" cy="336176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817798A8-5EAB-1B0C-AE1C-5F020AD00831}"/>
                </a:ext>
              </a:extLst>
            </p:cNvPr>
            <p:cNvCxnSpPr>
              <a:cxnSpLocks/>
            </p:cNvCxnSpPr>
            <p:nvPr/>
          </p:nvCxnSpPr>
          <p:spPr>
            <a:xfrm>
              <a:off x="10957932" y="2943922"/>
              <a:ext cx="0" cy="4014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249A777-8B62-65AB-24D4-EE25BB04A107}"/>
              </a:ext>
            </a:extLst>
          </p:cNvPr>
          <p:cNvGrpSpPr/>
          <p:nvPr/>
        </p:nvGrpSpPr>
        <p:grpSpPr>
          <a:xfrm>
            <a:off x="9598600" y="2216151"/>
            <a:ext cx="2200275" cy="1600200"/>
            <a:chOff x="9598600" y="2216151"/>
            <a:chExt cx="2200275" cy="16002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3D02502A-9BEF-4674-AC56-1F57B2436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98600" y="2216151"/>
              <a:ext cx="2200275" cy="16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7E15FA-E666-4DDA-D29E-759084D81842}"/>
                </a:ext>
              </a:extLst>
            </p:cNvPr>
            <p:cNvSpPr/>
            <p:nvPr/>
          </p:nvSpPr>
          <p:spPr>
            <a:xfrm>
              <a:off x="10838985" y="3429000"/>
              <a:ext cx="296587" cy="336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E4AB901-9C1D-74F2-B27A-53ADEC4D5BE4}"/>
              </a:ext>
            </a:extLst>
          </p:cNvPr>
          <p:cNvGrpSpPr/>
          <p:nvPr/>
        </p:nvGrpSpPr>
        <p:grpSpPr>
          <a:xfrm>
            <a:off x="9643462" y="2877016"/>
            <a:ext cx="2082373" cy="888160"/>
            <a:chOff x="9643462" y="2877016"/>
            <a:chExt cx="2082373" cy="8881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BBE515D-69D3-F529-4E68-6264CDB19803}"/>
                </a:ext>
              </a:extLst>
            </p:cNvPr>
            <p:cNvSpPr/>
            <p:nvPr/>
          </p:nvSpPr>
          <p:spPr>
            <a:xfrm>
              <a:off x="9643462" y="3428999"/>
              <a:ext cx="1202958" cy="336177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E264AAB-DAEB-4010-3D0A-A52DCBBDC123}"/>
                </a:ext>
              </a:extLst>
            </p:cNvPr>
            <p:cNvSpPr/>
            <p:nvPr/>
          </p:nvSpPr>
          <p:spPr>
            <a:xfrm>
              <a:off x="11124356" y="2877016"/>
              <a:ext cx="601479" cy="88816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273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39F82-1244-D7B9-B6E4-FFCDF25B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D4C7A-1339-0C80-8431-0F1FB2613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451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1528</Words>
  <Application>Microsoft Office PowerPoint</Application>
  <PresentationFormat>와이드스크린</PresentationFormat>
  <Paragraphs>364</Paragraphs>
  <Slides>27</Slides>
  <Notes>2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Consolas</vt:lpstr>
      <vt:lpstr>Office 테마</vt:lpstr>
      <vt:lpstr>Segment Tree</vt:lpstr>
      <vt:lpstr>누적합</vt:lpstr>
      <vt:lpstr>업데이트 쿼리?</vt:lpstr>
      <vt:lpstr>세그먼트 트리</vt:lpstr>
      <vt:lpstr>세그먼트 트리</vt:lpstr>
      <vt:lpstr>세그먼트 트리</vt:lpstr>
      <vt:lpstr>세그먼트 트리</vt:lpstr>
      <vt:lpstr>업데이트</vt:lpstr>
      <vt:lpstr>업데이트</vt:lpstr>
      <vt:lpstr>업데이트</vt:lpstr>
      <vt:lpstr>쿼리</vt:lpstr>
      <vt:lpstr>쿼리</vt:lpstr>
      <vt:lpstr>쿼리</vt:lpstr>
      <vt:lpstr>구현: 이진트리를 배열에 구겨넣기</vt:lpstr>
      <vt:lpstr>초기화</vt:lpstr>
      <vt:lpstr>업데이트 함수</vt:lpstr>
      <vt:lpstr>쿼리 함수</vt:lpstr>
      <vt:lpstr>BOJ 2042: 구간 합 구하기</vt:lpstr>
      <vt:lpstr>곱셈, min, max 등 연산</vt:lpstr>
      <vt:lpstr>곱셈, min, max 등 연산</vt:lpstr>
      <vt:lpstr>PowerPoint 프레젠테이션</vt:lpstr>
      <vt:lpstr>응용</vt:lpstr>
      <vt:lpstr>BOJ 32644: 랜덤 넘버 추측하기</vt:lpstr>
      <vt:lpstr>BOJ 14003: 가장 긴 증가하는 부분 수열 5</vt:lpstr>
      <vt:lpstr>BOJ 14003: 가장 긴 증가하는 부분 수열 5</vt:lpstr>
      <vt:lpstr>BOJ 6549: 히스토그램에서 가장 큰 직사각형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전상현</cp:lastModifiedBy>
  <cp:revision>144</cp:revision>
  <dcterms:created xsi:type="dcterms:W3CDTF">2025-09-09T00:28:09Z</dcterms:created>
  <dcterms:modified xsi:type="dcterms:W3CDTF">2025-11-06T02:05:19Z</dcterms:modified>
</cp:coreProperties>
</file>